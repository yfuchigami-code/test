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</p:sldMasterIdLst>
  <p:notesMasterIdLst>
    <p:notesMasterId r:id="rId4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906000" cy="6858000" type="A4"/>
  <p:notesSz cx="6735763" cy="98663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游ゴシック" panose="020B0400000000000000" pitchFamily="50" charset="-128"/>
        <a:ea typeface="游ゴシック" panose="020B0400000000000000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游ゴシック" panose="020B0400000000000000" pitchFamily="50" charset="-128"/>
        <a:ea typeface="游ゴシック" panose="020B0400000000000000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游ゴシック" panose="020B0400000000000000" pitchFamily="50" charset="-128"/>
        <a:ea typeface="游ゴシック" panose="020B0400000000000000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游ゴシック" panose="020B0400000000000000" pitchFamily="50" charset="-128"/>
        <a:ea typeface="游ゴシック" panose="020B0400000000000000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游ゴシック" panose="020B0400000000000000" pitchFamily="50" charset="-128"/>
        <a:ea typeface="游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游ゴシック" panose="020B0400000000000000" pitchFamily="50" charset="-128"/>
        <a:ea typeface="游ゴシック" panose="020B0400000000000000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游ゴシック" panose="020B0400000000000000" pitchFamily="50" charset="-128"/>
        <a:ea typeface="游ゴシック" panose="020B0400000000000000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游ゴシック" panose="020B0400000000000000" pitchFamily="50" charset="-128"/>
        <a:ea typeface="游ゴシック" panose="020B0400000000000000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游ゴシック" panose="020B0400000000000000" pitchFamily="50" charset="-128"/>
        <a:ea typeface="游ゴシック" panose="020B0400000000000000" pitchFamily="5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・目次" id="{793CE0BC-DC66-44F0-910A-E07562464F4A}">
          <p14:sldIdLst>
            <p14:sldId id="355"/>
            <p14:sldId id="357"/>
          </p14:sldIdLst>
        </p14:section>
        <p14:section name="基本ルール" id="{26153BA1-370F-426A-AEE6-1C733B514D8C}">
          <p14:sldIdLst>
            <p14:sldId id="389"/>
            <p14:sldId id="381"/>
            <p14:sldId id="382"/>
            <p14:sldId id="383"/>
            <p14:sldId id="384"/>
            <p14:sldId id="385"/>
            <p14:sldId id="386"/>
            <p14:sldId id="388"/>
            <p14:sldId id="361"/>
          </p14:sldIdLst>
        </p14:section>
        <p14:section name="サンプル" id="{BF1AC193-FDF0-4527-9FBB-19B755A4F729}">
          <p14:sldIdLst>
            <p14:sldId id="356"/>
            <p14:sldId id="358"/>
            <p14:sldId id="390"/>
            <p14:sldId id="391"/>
            <p14:sldId id="363"/>
            <p14:sldId id="378"/>
            <p14:sldId id="374"/>
            <p14:sldId id="364"/>
            <p14:sldId id="379"/>
            <p14:sldId id="365"/>
            <p14:sldId id="392"/>
            <p14:sldId id="393"/>
            <p14:sldId id="377"/>
            <p14:sldId id="375"/>
            <p14:sldId id="366"/>
            <p14:sldId id="362"/>
            <p14:sldId id="373"/>
            <p14:sldId id="367"/>
            <p14:sldId id="372"/>
            <p14:sldId id="376"/>
            <p14:sldId id="368"/>
            <p14:sldId id="369"/>
            <p14:sldId id="397"/>
            <p14:sldId id="398"/>
            <p14:sldId id="370"/>
            <p14:sldId id="371"/>
            <p14:sldId id="394"/>
            <p14:sldId id="395"/>
            <p14:sldId id="396"/>
          </p14:sldIdLst>
        </p14:section>
        <p14:section name="１．XXXX" id="{00D8EE81-21C5-42C3-9BD7-2573F8575918}">
          <p14:sldIdLst>
            <p14:sldId id="359"/>
            <p14:sldId id="360"/>
          </p14:sldIdLst>
        </p14:section>
        <p14:section name="背表紙" id="{E78359BD-5783-4432-B82B-58A29BDE477C}">
          <p14:sldIdLst>
            <p14:sldId id="322"/>
          </p14:sldIdLst>
        </p14:section>
      </p14:sectionLst>
    </p:ext>
    <p:ext uri="{EFAFB233-063F-42B5-8137-9DF3F51BA10A}">
      <p15:sldGuideLst xmlns:p15="http://schemas.microsoft.com/office/powerpoint/2012/main">
        <p15:guide id="4" pos="6068" userDrawn="1">
          <p15:clr>
            <a:srgbClr val="A4A3A4"/>
          </p15:clr>
        </p15:guide>
        <p15:guide id="6" orient="horz" pos="420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2737"/>
    <a:srgbClr val="C85F76"/>
    <a:srgbClr val="D9D9D9"/>
    <a:srgbClr val="404040"/>
    <a:srgbClr val="95A4DA"/>
    <a:srgbClr val="E4E4E4"/>
    <a:srgbClr val="5F76C8"/>
    <a:srgbClr val="716127"/>
    <a:srgbClr val="273771"/>
    <a:srgbClr val="AFBA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64" autoAdjust="0"/>
    <p:restoredTop sz="94660"/>
  </p:normalViewPr>
  <p:slideViewPr>
    <p:cSldViewPr showGuides="1">
      <p:cViewPr varScale="1">
        <p:scale>
          <a:sx n="57" d="100"/>
          <a:sy n="57" d="100"/>
        </p:scale>
        <p:origin x="44" y="888"/>
      </p:cViewPr>
      <p:guideLst>
        <p:guide pos="6068"/>
        <p:guide orient="horz" pos="420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>
              <a:defRPr/>
            </a:pPr>
            <a:endParaRPr lang="ja-JP" altLang="en-US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>
              <a:defRPr/>
            </a:pPr>
            <a:fld id="{AAA9AD0D-99EF-49C4-B2B1-5BDB2AC1E805}" type="datetimeFigureOut">
              <a:rPr lang="ja-JP" altLang="en-US" smtClean="0"/>
              <a:pPr>
                <a:defRPr/>
              </a:pPr>
              <a:t>2025/7/7</a:t>
            </a:fld>
            <a:endParaRPr lang="ja-JP" altLang="en-US" dirty="0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 altLang="en-US" noProof="0" dirty="0"/>
              <a:t>マスター テキストの書式設定</a:t>
            </a:r>
          </a:p>
          <a:p>
            <a:pPr lvl="1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>
              <a:defRPr/>
            </a:pPr>
            <a:endParaRPr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>
              <a:defRPr/>
            </a:pPr>
            <a:fld id="{6BB4F2C8-D80D-4518-AD21-3CCF052E3805}" type="slidenum">
              <a:rPr lang="ja-JP" altLang="en-US" smtClean="0"/>
              <a:pPr>
                <a:defRPr/>
              </a:pPr>
              <a:t>‹#›</a:t>
            </a:fld>
            <a:endParaRPr lang="ja-JP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メイリオ" panose="020B0604030504040204" pitchFamily="50" charset="-128"/>
        <a:ea typeface="メイリオ" panose="020B0604030504040204" pitchFamily="5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メイリオ" panose="020B0604030504040204" pitchFamily="50" charset="-128"/>
        <a:ea typeface="メイリオ" panose="020B0604030504040204" pitchFamily="5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メイリオ" panose="020B0604030504040204" pitchFamily="50" charset="-128"/>
        <a:ea typeface="メイリオ" panose="020B0604030504040204" pitchFamily="5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メイリオ" panose="020B0604030504040204" pitchFamily="50" charset="-128"/>
        <a:ea typeface="メイリオ" panose="020B0604030504040204" pitchFamily="5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メイリオ" panose="020B0604030504040204" pitchFamily="50" charset="-128"/>
        <a:ea typeface="メイリオ" panose="020B0604030504040204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6831D8E0-0D4A-5C93-F0EF-189736AB25D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85" t="2371" r="10946" b="930"/>
          <a:stretch/>
        </p:blipFill>
        <p:spPr>
          <a:xfrm>
            <a:off x="0" y="3613"/>
            <a:ext cx="9906000" cy="6858000"/>
          </a:xfrm>
          <a:prstGeom prst="rect">
            <a:avLst/>
          </a:prstGeom>
        </p:spPr>
      </p:pic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A76EEF28-AAAC-9849-6486-FB2739CB7E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5521" y="2132856"/>
            <a:ext cx="8145797" cy="38999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36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7" name="テキスト プレースホルダー 7">
            <a:extLst>
              <a:ext uri="{FF2B5EF4-FFF2-40B4-BE49-F238E27FC236}">
                <a16:creationId xmlns:a16="http://schemas.microsoft.com/office/drawing/2014/main" id="{159ED017-0A95-398D-D920-374D2CDF0B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0947" y="425484"/>
            <a:ext cx="8056429" cy="277545"/>
          </a:xfrm>
          <a:prstGeom prst="rect">
            <a:avLst/>
          </a:prstGeom>
        </p:spPr>
        <p:txBody>
          <a:bodyPr anchor="ctr" anchorCtr="0"/>
          <a:lstStyle>
            <a:lvl1pPr marL="0" indent="0" algn="l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48522749-8AC3-3687-7EAE-15BCC793CE00}"/>
              </a:ext>
            </a:extLst>
          </p:cNvPr>
          <p:cNvGrpSpPr/>
          <p:nvPr userDrawn="1"/>
        </p:nvGrpSpPr>
        <p:grpSpPr>
          <a:xfrm>
            <a:off x="450274" y="1579011"/>
            <a:ext cx="9005455" cy="4038646"/>
            <a:chOff x="450273" y="1737360"/>
            <a:chExt cx="9005455" cy="3692694"/>
          </a:xfrm>
        </p:grpSpPr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5677695-FF83-CFE9-50AD-5F73884E9A16}"/>
                </a:ext>
              </a:extLst>
            </p:cNvPr>
            <p:cNvCxnSpPr/>
            <p:nvPr/>
          </p:nvCxnSpPr>
          <p:spPr>
            <a:xfrm>
              <a:off x="450273" y="1737360"/>
              <a:ext cx="9005455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AFBDD4CB-2850-5CC3-4651-B8695FC1AB14}"/>
                </a:ext>
              </a:extLst>
            </p:cNvPr>
            <p:cNvCxnSpPr/>
            <p:nvPr/>
          </p:nvCxnSpPr>
          <p:spPr>
            <a:xfrm>
              <a:off x="450273" y="5430054"/>
              <a:ext cx="9005455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35D9ED2D-1FFA-A859-048B-169A21A16AC5}"/>
              </a:ext>
            </a:extLst>
          </p:cNvPr>
          <p:cNvCxnSpPr/>
          <p:nvPr userDrawn="1"/>
        </p:nvCxnSpPr>
        <p:spPr>
          <a:xfrm>
            <a:off x="1737360" y="4081207"/>
            <a:ext cx="6431280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18E70DE-8697-B945-EB13-B20769C31EBF}"/>
              </a:ext>
            </a:extLst>
          </p:cNvPr>
          <p:cNvSpPr/>
          <p:nvPr userDrawn="1"/>
        </p:nvSpPr>
        <p:spPr>
          <a:xfrm>
            <a:off x="0" y="6146524"/>
            <a:ext cx="9906000" cy="71147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/>
          </a:p>
        </p:txBody>
      </p:sp>
      <p:pic>
        <p:nvPicPr>
          <p:cNvPr id="21" name="図 20" descr="テキスト, ロゴ&#10;&#10;自動的に生成された説明">
            <a:extLst>
              <a:ext uri="{FF2B5EF4-FFF2-40B4-BE49-F238E27FC236}">
                <a16:creationId xmlns:a16="http://schemas.microsoft.com/office/drawing/2014/main" id="{4993A03C-732A-6D44-21FB-73C28AEC0F9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540" y="6199211"/>
            <a:ext cx="2390920" cy="614165"/>
          </a:xfrm>
          <a:prstGeom prst="rect">
            <a:avLst/>
          </a:prstGeom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8C942D4-B09B-30B1-3613-0A3626D35BE9}"/>
              </a:ext>
            </a:extLst>
          </p:cNvPr>
          <p:cNvSpPr/>
          <p:nvPr userDrawn="1"/>
        </p:nvSpPr>
        <p:spPr>
          <a:xfrm>
            <a:off x="8265367" y="423015"/>
            <a:ext cx="1374511" cy="288464"/>
          </a:xfrm>
          <a:prstGeom prst="rect">
            <a:avLst/>
          </a:prstGeom>
          <a:solidFill>
            <a:srgbClr val="95A4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/>
              <a:t>Confidential</a:t>
            </a:r>
            <a:endParaRPr kumimoji="1" lang="ja-JP" altLang="en-US" sz="1200" b="1" dirty="0"/>
          </a:p>
        </p:txBody>
      </p:sp>
      <p:sp>
        <p:nvSpPr>
          <p:cNvPr id="24" name="テキスト プレースホルダー 7">
            <a:extLst>
              <a:ext uri="{FF2B5EF4-FFF2-40B4-BE49-F238E27FC236}">
                <a16:creationId xmlns:a16="http://schemas.microsoft.com/office/drawing/2014/main" id="{F0181E37-0530-1156-CC75-76EB6A615E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49577" y="4276162"/>
            <a:ext cx="7217684" cy="38999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893452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BAE245A-47CC-E595-1006-8C9A8F4062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85" t="2371" r="10946" b="930"/>
          <a:stretch/>
        </p:blipFill>
        <p:spPr>
          <a:xfrm>
            <a:off x="0" y="3613"/>
            <a:ext cx="9906000" cy="685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39E3DFB-1E7E-9CDF-CF61-2B4838DA73A4}"/>
              </a:ext>
            </a:extLst>
          </p:cNvPr>
          <p:cNvSpPr/>
          <p:nvPr userDrawn="1"/>
        </p:nvSpPr>
        <p:spPr>
          <a:xfrm>
            <a:off x="0" y="6146524"/>
            <a:ext cx="9906000" cy="71147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/>
          </a:p>
        </p:txBody>
      </p:sp>
      <p:pic>
        <p:nvPicPr>
          <p:cNvPr id="5" name="図 4" descr="テキスト, ロゴ&#10;&#10;自動的に生成された説明">
            <a:extLst>
              <a:ext uri="{FF2B5EF4-FFF2-40B4-BE49-F238E27FC236}">
                <a16:creationId xmlns:a16="http://schemas.microsoft.com/office/drawing/2014/main" id="{8DAEBFBA-4A79-265E-2477-DDABEBB17E0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540" y="6199211"/>
            <a:ext cx="2390920" cy="614165"/>
          </a:xfrm>
          <a:prstGeom prst="rect">
            <a:avLst/>
          </a:prstGeom>
        </p:spPr>
      </p:pic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A76EEF28-AAAC-9849-6486-FB2739CB7E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3871" y="3218878"/>
            <a:ext cx="9349079" cy="428991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550393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3050" y="116632"/>
            <a:ext cx="9359901" cy="506413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127508-2B19-3E28-80C9-0BC11FA17D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3049" y="843947"/>
            <a:ext cx="9359902" cy="280797"/>
          </a:xfrm>
          <a:prstGeom prst="rect">
            <a:avLst/>
          </a:prstGeom>
        </p:spPr>
        <p:txBody>
          <a:bodyPr/>
          <a:lstStyle>
            <a:lvl1pPr marL="228600" indent="-228600">
              <a:lnSpc>
                <a:spcPct val="100000"/>
              </a:lnSpc>
              <a:buFont typeface="Wingdings" panose="05000000000000000000" pitchFamily="2" charset="2"/>
              <a:buChar char="n"/>
              <a:defRPr sz="20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685800" indent="-228600">
              <a:buFont typeface="Wingdings" panose="05000000000000000000" pitchFamily="2" charset="2"/>
              <a:buChar char="n"/>
              <a:defRPr sz="1600"/>
            </a:lvl2pPr>
            <a:lvl3pPr marL="1143000" indent="-228600">
              <a:buFont typeface="Wingdings" panose="05000000000000000000" pitchFamily="2" charset="2"/>
              <a:buChar char="n"/>
              <a:defRPr sz="1400"/>
            </a:lvl3pPr>
            <a:lvl4pPr marL="1600200" indent="-228600">
              <a:buFont typeface="Wingdings" panose="05000000000000000000" pitchFamily="2" charset="2"/>
              <a:buChar char="n"/>
              <a:defRPr sz="1200"/>
            </a:lvl4pPr>
            <a:lvl5pPr marL="2057400" indent="-228600">
              <a:buFont typeface="Wingdings" panose="05000000000000000000" pitchFamily="2" charset="2"/>
              <a:buChar char="n"/>
              <a:defRPr sz="12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9E99F37-B922-98C6-6E65-0DCBFF56EAB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60512" y="1165994"/>
            <a:ext cx="9072437" cy="280797"/>
          </a:xfrm>
          <a:prstGeom prst="rect">
            <a:avLst/>
          </a:prstGeom>
        </p:spPr>
        <p:txBody>
          <a:bodyPr/>
          <a:lstStyle>
            <a:lvl1pPr marL="228600" indent="-228600">
              <a:lnSpc>
                <a:spcPct val="100000"/>
              </a:lnSpc>
              <a:buFont typeface="Wingdings" panose="05000000000000000000" pitchFamily="2" charset="2"/>
              <a:buChar char="Ø"/>
              <a:defRPr sz="14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3976381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12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CEA3CB7-D134-0604-0A8C-C534470866B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C0DCAD4-8FAC-A8E4-F288-6E36DF5282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53382" y="3234122"/>
            <a:ext cx="2199236" cy="42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068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フッター プレースホルダー 5"/>
          <p:cNvSpPr txBox="1">
            <a:spLocks/>
          </p:cNvSpPr>
          <p:nvPr/>
        </p:nvSpPr>
        <p:spPr>
          <a:xfrm>
            <a:off x="39522" y="6697105"/>
            <a:ext cx="6840190" cy="284162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700" i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Copyright</a:t>
            </a:r>
            <a:r>
              <a:rPr lang="ja-JP" altLang="en-US" sz="700" i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700" i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(C)</a:t>
            </a:r>
            <a:r>
              <a:rPr lang="ja-JP" altLang="en-US" sz="700" i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700" i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Naoya Aoki All Rights Reserved.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0D82146-8AE9-0095-F49B-2A884FF9D856}"/>
              </a:ext>
            </a:extLst>
          </p:cNvPr>
          <p:cNvSpPr txBox="1"/>
          <p:nvPr userDrawn="1"/>
        </p:nvSpPr>
        <p:spPr>
          <a:xfrm>
            <a:off x="30063" y="-1395536"/>
            <a:ext cx="497626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600" b="1" i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Tetradic </a:t>
            </a:r>
            <a:r>
              <a:rPr lang="en-US" altLang="ja-JP" sz="600" b="1" i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Color</a:t>
            </a:r>
            <a:endParaRPr lang="ja-JP" altLang="en-US" sz="600" b="1" i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63D41C2-83A3-317E-8EBC-8CE4EDB9A8E4}"/>
              </a:ext>
            </a:extLst>
          </p:cNvPr>
          <p:cNvSpPr/>
          <p:nvPr userDrawn="1"/>
        </p:nvSpPr>
        <p:spPr>
          <a:xfrm>
            <a:off x="2138" y="1899"/>
            <a:ext cx="9903862" cy="697587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533" tIns="44767" rIns="89533" bIns="4476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763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B5A1EE3-7D08-21EC-7C74-A5F883A96C3B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633" y="206496"/>
            <a:ext cx="1698660" cy="347322"/>
          </a:xfrm>
          <a:prstGeom prst="rect">
            <a:avLst/>
          </a:prstGeom>
        </p:spPr>
      </p:pic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92BBDA0C-E641-AF5A-D1A3-9F7B7810966A}"/>
              </a:ext>
            </a:extLst>
          </p:cNvPr>
          <p:cNvSpPr/>
          <p:nvPr userDrawn="1"/>
        </p:nvSpPr>
        <p:spPr>
          <a:xfrm>
            <a:off x="0" y="6590336"/>
            <a:ext cx="9906000" cy="26749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533" tIns="44767" rIns="89533" bIns="4476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763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B963126F-6BDE-A4F7-5D75-220A16B75217}"/>
              </a:ext>
            </a:extLst>
          </p:cNvPr>
          <p:cNvSpPr txBox="1"/>
          <p:nvPr userDrawn="1"/>
        </p:nvSpPr>
        <p:spPr>
          <a:xfrm>
            <a:off x="284583" y="6637486"/>
            <a:ext cx="61429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Times New Roman"/>
              <a:buNone/>
            </a:pPr>
            <a:r>
              <a:rPr lang="en-US" altLang="ja-JP" sz="700" b="0" i="0" u="none" strike="noStrike" cap="none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Times New Roman"/>
                <a:sym typeface="Times New Roman"/>
              </a:rPr>
              <a:t>Copyright (C) 2026 Pure Growth Incorporated. All Rights Reserved. 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 userDrawn="1">
            <p:ph type="sldNum" sz="quarter" idx="4"/>
          </p:nvPr>
        </p:nvSpPr>
        <p:spPr>
          <a:xfrm>
            <a:off x="7403430" y="6641802"/>
            <a:ext cx="2228850" cy="201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000" b="0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>
              <a:defRPr/>
            </a:pPr>
            <a:fld id="{93850C1C-C9B2-4A6F-A9F5-9B26DEA8C8C1}" type="slidenum">
              <a:rPr lang="ja-JP" altLang="en-US" smtClean="0"/>
              <a:pPr>
                <a:defRPr/>
              </a:pPr>
              <a:t>‹#›</a:t>
            </a:fld>
            <a:endParaRPr lang="ja-JP" altLang="en-US"/>
          </a:p>
        </p:txBody>
      </p:sp>
      <p:sp>
        <p:nvSpPr>
          <p:cNvPr id="17" name="スライド番号プレースホルダー 5"/>
          <p:cNvSpPr txBox="1">
            <a:spLocks/>
          </p:cNvSpPr>
          <p:nvPr userDrawn="1"/>
        </p:nvSpPr>
        <p:spPr>
          <a:xfrm>
            <a:off x="7403430" y="6641802"/>
            <a:ext cx="2228850" cy="201613"/>
          </a:xfrm>
          <a:prstGeom prst="rect">
            <a:avLst/>
          </a:prstGeom>
        </p:spPr>
        <p:txBody>
          <a:bodyPr anchor="ctr"/>
          <a:lstStyle>
            <a:defPPr>
              <a:defRPr lang="ja-JP"/>
            </a:defPPr>
            <a:lvl1pPr marL="0" algn="r" defTabSz="914400" rtl="0" eaLnBrk="1" latinLnBrk="0" hangingPunct="1">
              <a:defRPr kumimoji="1" sz="1100" kern="1200">
                <a:solidFill>
                  <a:schemeClr val="bg2">
                    <a:lumMod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fld id="{6A316D8E-C1E4-415C-9171-CFE503B5F1C6}" type="slidenum">
              <a:rPr lang="ja-JP" altLang="en-US" sz="1000" b="0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ja-JP" altLang="en-US" sz="1000" b="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2BEB8366-D2F1-D9C8-D879-34EE1C2B87C3}"/>
              </a:ext>
            </a:extLst>
          </p:cNvPr>
          <p:cNvGrpSpPr/>
          <p:nvPr userDrawn="1"/>
        </p:nvGrpSpPr>
        <p:grpSpPr>
          <a:xfrm>
            <a:off x="2526806" y="-1140054"/>
            <a:ext cx="2329817" cy="686027"/>
            <a:chOff x="2511748" y="-1140054"/>
            <a:chExt cx="2329817" cy="686027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5858042F-421D-8332-2EE7-8BBC9B662AAA}"/>
                </a:ext>
              </a:extLst>
            </p:cNvPr>
            <p:cNvSpPr/>
            <p:nvPr/>
          </p:nvSpPr>
          <p:spPr>
            <a:xfrm>
              <a:off x="2511748" y="-562798"/>
              <a:ext cx="2329817" cy="108771"/>
            </a:xfrm>
            <a:prstGeom prst="rect">
              <a:avLst/>
            </a:prstGeom>
            <a:solidFill>
              <a:srgbClr val="7127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B56B907D-FB1A-F0ED-38E2-EDEA5575E47D}"/>
                </a:ext>
              </a:extLst>
            </p:cNvPr>
            <p:cNvSpPr/>
            <p:nvPr/>
          </p:nvSpPr>
          <p:spPr>
            <a:xfrm>
              <a:off x="2511748" y="-750364"/>
              <a:ext cx="2329817" cy="108771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B9E3B4F8-7E64-B344-9E51-F46CC8744404}"/>
                </a:ext>
              </a:extLst>
            </p:cNvPr>
            <p:cNvSpPr/>
            <p:nvPr userDrawn="1"/>
          </p:nvSpPr>
          <p:spPr>
            <a:xfrm>
              <a:off x="2511748" y="-936098"/>
              <a:ext cx="2329817" cy="108771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DC874529-07C7-4E98-CF3A-ED0542AC63FF}"/>
                </a:ext>
              </a:extLst>
            </p:cNvPr>
            <p:cNvSpPr/>
            <p:nvPr userDrawn="1"/>
          </p:nvSpPr>
          <p:spPr>
            <a:xfrm>
              <a:off x="2511748" y="-1140054"/>
              <a:ext cx="2329817" cy="10877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3C7AA7-0745-644C-D5C0-0636B3857825}"/>
              </a:ext>
            </a:extLst>
          </p:cNvPr>
          <p:cNvGrpSpPr/>
          <p:nvPr userDrawn="1"/>
        </p:nvGrpSpPr>
        <p:grpSpPr>
          <a:xfrm>
            <a:off x="0" y="-1140054"/>
            <a:ext cx="2329817" cy="686027"/>
            <a:chOff x="0" y="-1140054"/>
            <a:chExt cx="2329817" cy="686027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EAF4D7DF-1015-241E-A33D-73832ED5B44A}"/>
                </a:ext>
              </a:extLst>
            </p:cNvPr>
            <p:cNvSpPr/>
            <p:nvPr/>
          </p:nvSpPr>
          <p:spPr>
            <a:xfrm>
              <a:off x="0" y="-562798"/>
              <a:ext cx="2329817" cy="108771"/>
            </a:xfrm>
            <a:prstGeom prst="rect">
              <a:avLst/>
            </a:prstGeom>
            <a:solidFill>
              <a:srgbClr val="27377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7D2C2963-C562-3012-6A4F-D12303E6B982}"/>
                </a:ext>
              </a:extLst>
            </p:cNvPr>
            <p:cNvSpPr/>
            <p:nvPr/>
          </p:nvSpPr>
          <p:spPr>
            <a:xfrm>
              <a:off x="0" y="-750364"/>
              <a:ext cx="2329817" cy="10877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6BBBE1B7-1344-9982-F1A7-A09993DD0E75}"/>
                </a:ext>
              </a:extLst>
            </p:cNvPr>
            <p:cNvSpPr/>
            <p:nvPr userDrawn="1"/>
          </p:nvSpPr>
          <p:spPr>
            <a:xfrm>
              <a:off x="0" y="-936098"/>
              <a:ext cx="2329817" cy="10877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4C1B38A-9B65-00F5-EA0F-CCBFF6CC583A}"/>
                </a:ext>
              </a:extLst>
            </p:cNvPr>
            <p:cNvSpPr/>
            <p:nvPr userDrawn="1"/>
          </p:nvSpPr>
          <p:spPr>
            <a:xfrm>
              <a:off x="0" y="-1140054"/>
              <a:ext cx="2329817" cy="10877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7FE4412D-BAB2-81F5-398E-7DB0016A09FA}"/>
              </a:ext>
            </a:extLst>
          </p:cNvPr>
          <p:cNvSpPr/>
          <p:nvPr userDrawn="1"/>
        </p:nvSpPr>
        <p:spPr>
          <a:xfrm>
            <a:off x="7580419" y="-562798"/>
            <a:ext cx="2329817" cy="10877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09F2B9C-172E-F447-D64F-B80249D4E728}"/>
              </a:ext>
            </a:extLst>
          </p:cNvPr>
          <p:cNvSpPr/>
          <p:nvPr userDrawn="1"/>
        </p:nvSpPr>
        <p:spPr>
          <a:xfrm>
            <a:off x="7580419" y="-750364"/>
            <a:ext cx="2329817" cy="108771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9B953CA8-6908-7F81-8E19-DB030C737E62}"/>
              </a:ext>
            </a:extLst>
          </p:cNvPr>
          <p:cNvSpPr/>
          <p:nvPr userDrawn="1"/>
        </p:nvSpPr>
        <p:spPr>
          <a:xfrm>
            <a:off x="7580419" y="-936098"/>
            <a:ext cx="2329817" cy="1087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1F75AC6D-B458-7A23-BC04-44C3F32EC756}"/>
              </a:ext>
            </a:extLst>
          </p:cNvPr>
          <p:cNvSpPr/>
          <p:nvPr userDrawn="1"/>
        </p:nvSpPr>
        <p:spPr>
          <a:xfrm>
            <a:off x="7580419" y="-1140054"/>
            <a:ext cx="2329817" cy="108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79DB417-73FE-54AE-7AE3-F71082E48004}"/>
              </a:ext>
            </a:extLst>
          </p:cNvPr>
          <p:cNvSpPr/>
          <p:nvPr userDrawn="1"/>
        </p:nvSpPr>
        <p:spPr>
          <a:xfrm>
            <a:off x="5053612" y="-562798"/>
            <a:ext cx="2329817" cy="1087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481ABB7-F0E4-3995-58D8-11AE41A96B81}"/>
              </a:ext>
            </a:extLst>
          </p:cNvPr>
          <p:cNvSpPr/>
          <p:nvPr userDrawn="1"/>
        </p:nvSpPr>
        <p:spPr>
          <a:xfrm>
            <a:off x="5053612" y="-750364"/>
            <a:ext cx="2329817" cy="10877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B286950-7DF0-AF7C-8415-795827CC26EF}"/>
              </a:ext>
            </a:extLst>
          </p:cNvPr>
          <p:cNvSpPr/>
          <p:nvPr userDrawn="1"/>
        </p:nvSpPr>
        <p:spPr>
          <a:xfrm>
            <a:off x="5053612" y="-936098"/>
            <a:ext cx="2329817" cy="1087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1A7186B-9FCC-DA95-F5EE-070A0D3CF878}"/>
              </a:ext>
            </a:extLst>
          </p:cNvPr>
          <p:cNvSpPr/>
          <p:nvPr userDrawn="1"/>
        </p:nvSpPr>
        <p:spPr>
          <a:xfrm>
            <a:off x="5053612" y="-1140054"/>
            <a:ext cx="2329817" cy="1087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2" r:id="rId2"/>
    <p:sldLayoutId id="2147483711" r:id="rId3"/>
    <p:sldLayoutId id="2147483724" r:id="rId4"/>
  </p:sldLayoutIdLst>
  <p:hf sldNum="0"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kumimoji="1" sz="3200" b="1" kern="1200">
          <a:solidFill>
            <a:schemeClr val="bg1"/>
          </a:solidFill>
          <a:latin typeface="+mn-ea"/>
          <a:ea typeface="+mn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kumimoji="1" sz="3200">
          <a:solidFill>
            <a:schemeClr val="tx1"/>
          </a:solidFill>
          <a:latin typeface="游ゴシック" panose="020B0400000000000000" pitchFamily="50" charset="-128"/>
          <a:ea typeface="游ゴシック" panose="020B0400000000000000" pitchFamily="50" charset="-128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kumimoji="1" sz="3200">
          <a:solidFill>
            <a:schemeClr val="tx1"/>
          </a:solidFill>
          <a:latin typeface="游ゴシック" panose="020B0400000000000000" pitchFamily="50" charset="-128"/>
          <a:ea typeface="游ゴシック" panose="020B0400000000000000" pitchFamily="50" charset="-128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kumimoji="1" sz="3200">
          <a:solidFill>
            <a:schemeClr val="tx1"/>
          </a:solidFill>
          <a:latin typeface="游ゴシック" panose="020B0400000000000000" pitchFamily="50" charset="-128"/>
          <a:ea typeface="游ゴシック" panose="020B0400000000000000" pitchFamily="50" charset="-128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kumimoji="1" sz="3200">
          <a:solidFill>
            <a:schemeClr val="tx1"/>
          </a:solidFill>
          <a:latin typeface="游ゴシック" panose="020B0400000000000000" pitchFamily="50" charset="-128"/>
          <a:ea typeface="游ゴシック" panose="020B0400000000000000" pitchFamily="50" charset="-128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kumimoji="1" sz="3200">
          <a:solidFill>
            <a:schemeClr val="tx1"/>
          </a:solidFill>
          <a:latin typeface="游ゴシック" panose="020B0400000000000000" pitchFamily="50" charset="-128"/>
          <a:ea typeface="游ゴシック" panose="020B0400000000000000" pitchFamily="50" charset="-128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kumimoji="1" sz="3200">
          <a:solidFill>
            <a:schemeClr val="tx1"/>
          </a:solidFill>
          <a:latin typeface="游ゴシック" panose="020B0400000000000000" pitchFamily="50" charset="-128"/>
          <a:ea typeface="游ゴシック" panose="020B0400000000000000" pitchFamily="50" charset="-128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kumimoji="1" sz="3200">
          <a:solidFill>
            <a:schemeClr val="tx1"/>
          </a:solidFill>
          <a:latin typeface="游ゴシック" panose="020B0400000000000000" pitchFamily="50" charset="-128"/>
          <a:ea typeface="游ゴシック" panose="020B0400000000000000" pitchFamily="50" charset="-128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kumimoji="1" sz="3200">
          <a:solidFill>
            <a:schemeClr val="tx1"/>
          </a:solidFill>
          <a:latin typeface="游ゴシック" panose="020B0400000000000000" pitchFamily="50" charset="-128"/>
          <a:ea typeface="游ゴシック" panose="020B0400000000000000" pitchFamily="50" charset="-128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umimoji="1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umimoji="1" kern="1200">
          <a:solidFill>
            <a:schemeClr val="tx1"/>
          </a:solidFill>
          <a:latin typeface="+mn-ea"/>
          <a:ea typeface="+mn-ea"/>
          <a:cs typeface="+mn-cs"/>
        </a:defRPr>
      </a:lvl5pPr>
      <a:lvl6pPr marL="2514663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4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7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2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  <p15:guide id="3" pos="172" userDrawn="1">
          <p15:clr>
            <a:srgbClr val="F26B43"/>
          </p15:clr>
        </p15:guide>
        <p15:guide id="4" pos="6068" userDrawn="1">
          <p15:clr>
            <a:srgbClr val="F26B43"/>
          </p15:clr>
        </p15:guide>
        <p15:guide id="5" orient="horz" pos="52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b="1">
                <a:latin typeface="メイリオ"/>
                <a:ea typeface="メイリオ"/>
              </a:rPr>
              <a:t>自動車事業</a:t>
            </a:r>
          </a:p>
          <a:p>
            <a:r>
              <a:rPr b="1">
                <a:latin typeface="メイリオ"/>
                <a:ea typeface="メイリオ"/>
              </a:rPr>
              <a:t>活性化支援のご提案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b="1">
                <a:latin typeface="メイリオ"/>
                <a:ea typeface="メイリオ"/>
              </a:rPr>
              <a:t>ジンコーポレーション株式会社 御中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b="1">
                <a:latin typeface="メイリオ"/>
                <a:ea typeface="メイリオ"/>
              </a:rPr>
              <a:t>2026年10月度 ご提案書</a:t>
            </a:r>
          </a:p>
          <a:p>
            <a:r>
              <a:rPr b="1">
                <a:latin typeface="メイリオ"/>
                <a:ea typeface="メイリオ"/>
              </a:rPr>
              <a:t>ピュアグロース株式会社／2026.10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本日の構成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0000" y="1050000"/>
            <a:ext cx="8646000" cy="875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1.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貴社の現状認識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事業の見立てと伸びしろ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000" y="1925000"/>
            <a:ext cx="8646000" cy="875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2.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ご提案の全体像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整備・M&amp;A・販売の3つの支援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000" y="2800000"/>
            <a:ext cx="8646000" cy="875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3.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整備事業の業績アップ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課題仮説・打ち手・目指す水準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" y="3675000"/>
            <a:ext cx="8646000" cy="875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4.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M&amp;Aコンサルティング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M&amp;A室として案件発掘から統合まで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" y="4550000"/>
            <a:ext cx="8646000" cy="875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5.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自動車販売コンサルティング（＋α）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販売の仕組みと整備への入庫導線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000" y="5425000"/>
            <a:ext cx="8646000" cy="875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6.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支援体制・費用・次のステップ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進め方と開始までの流れ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本提案の結論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整備の収益力を高め、M&amp;Aで規模を広げ、販売で整備への入庫をつなぐ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2982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① 整備事業コンサル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882275"/>
            <a:ext cx="2982000" cy="2932305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0000" y="1982275"/>
            <a:ext cx="2862000" cy="277230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ピット生産性の向上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販売客の自社入庫化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整備単価の向上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拠点別KPIの月次管理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3462000" y="1322275"/>
            <a:ext cx="2982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② M&amp;Aコンサル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3462000" y="1882275"/>
            <a:ext cx="2982000" cy="2932305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2000" y="1982275"/>
            <a:ext cx="2862000" cy="277230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貴社専属のM&amp;A室として機能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バイネームで直接アプローチ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他社の売り案件も精査・提案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統合後の定着まで伴走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44000" y="1322275"/>
            <a:ext cx="2982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③ 販売コンサル（＋α）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4000" y="1882275"/>
            <a:ext cx="2982000" cy="2932305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4000" y="1982275"/>
            <a:ext cx="2862000" cy="277230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商談プロセスの標準化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在庫・仕入の管理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整備入庫の導線づくり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店長・営業の育成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0380" y="4936002"/>
            <a:ext cx="8785240" cy="119399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0380" y="5342501"/>
            <a:ext cx="381000" cy="381000"/>
          </a:xfrm>
          <a:prstGeom prst="ellipse">
            <a:avLst/>
          </a:prstGeom>
          <a:solidFill>
            <a:srgbClr val="ED61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05630" y="5456801"/>
            <a:ext cx="198120" cy="152400"/>
          </a:xfrm>
          <a:custGeom>
            <a:avLst/>
            <a:gdLst/>
            <a:ahLst/>
            <a:cxnLst/>
            <a:rect l="l" t="t" r="r" b="b"/>
            <a:pathLst>
              <a:path w="198120" h="152400">
                <a:moveTo>
                  <a:pt x="0" y="83820"/>
                </a:moveTo>
                <a:lnTo>
                  <a:pt x="72390" y="152400"/>
                </a:lnTo>
                <a:lnTo>
                  <a:pt x="198120" y="0"/>
                </a:lnTo>
              </a:path>
            </a:pathLst>
          </a:cu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1380" y="4936002"/>
            <a:ext cx="7954240" cy="1193998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115300"/>
              </a:lnSpc>
            </a:pPr>
            <a:r>
              <a:rPr b="1" sz="2400">
                <a:solidFill>
                  <a:srgbClr val="4472C4"/>
                </a:solidFill>
                <a:latin typeface="メイリオ"/>
                <a:ea typeface="メイリオ"/>
              </a:rPr>
              <a:t>まず整備とM&amp;Aに着手し、販売は第2フェーズで追加できる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貴社の現状認識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長野県内で自動車事業を展開する貴社の、伸びしろを4点で見立てる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4493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貴社の強み（仮説）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882275"/>
            <a:ext cx="4493000" cy="188337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0000" y="1982275"/>
            <a:ext cx="4373000" cy="1723374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地域に根ざした顧客基盤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販売と整備の両方を持つ事業構造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長野県内での認知と信頼</a:t>
            </a:r>
          </a:p>
        </p:txBody>
      </p:sp>
      <p:sp>
        <p:nvSpPr>
          <p:cNvPr id="7" name="Rectangle 6"/>
          <p:cNvSpPr/>
          <p:nvPr/>
        </p:nvSpPr>
        <p:spPr>
          <a:xfrm>
            <a:off x="5133000" y="1322275"/>
            <a:ext cx="4493000" cy="560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伸びしろの仮説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3000" y="1882275"/>
            <a:ext cx="4493000" cy="188337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93000" y="1982275"/>
            <a:ext cx="4373000" cy="1723374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販売客の車検・点検の自社入庫化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拠点ごとの整備単価・生産性の差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メカニックの採用・育成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後継者不在の工場・販売店との連携</a:t>
            </a:r>
          </a:p>
        </p:txBody>
      </p:sp>
      <p:sp>
        <p:nvSpPr>
          <p:cNvPr id="10" name="PG注記"/>
          <p:cNvSpPr txBox="1"/>
          <p:nvPr/>
        </p:nvSpPr>
        <p:spPr>
          <a:xfrm>
            <a:off x="280000" y="3845649"/>
            <a:ext cx="9346000" cy="3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1200">
                <a:solidFill>
                  <a:srgbClr val="808080"/>
                </a:solidFill>
                <a:latin typeface="メイリオ"/>
                <a:ea typeface="メイリオ"/>
              </a:rPr>
              <a:t>※ 貴社の数値・拠点情報は未確認のため、現状ヒアリングと数値診断で検証し、本資料を更新する。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ご提案の全体像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3つの支援を一つの窓口で、一貫してご支援する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2982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整備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882275"/>
            <a:ext cx="2982000" cy="180717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0000" y="1982275"/>
            <a:ext cx="2862000" cy="1647174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ピット生産性の向上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販売客の自社入庫化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整備単価の向上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3462000" y="1322275"/>
            <a:ext cx="2982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M&amp;A</a:t>
            </a:r>
          </a:p>
        </p:txBody>
      </p:sp>
      <p:sp>
        <p:nvSpPr>
          <p:cNvPr id="8" name="Rectangle 7"/>
          <p:cNvSpPr/>
          <p:nvPr/>
        </p:nvSpPr>
        <p:spPr>
          <a:xfrm>
            <a:off x="3462000" y="1882275"/>
            <a:ext cx="2982000" cy="180717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2000" y="1982275"/>
            <a:ext cx="2862000" cy="1647174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案件発掘（バイネーム）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精査・提案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交渉から統合まで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44000" y="1322275"/>
            <a:ext cx="2982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販売（＋α）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4000" y="1882275"/>
            <a:ext cx="2982000" cy="180717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4000" y="1982275"/>
            <a:ext cx="2862000" cy="1647174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商談の標準化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在庫・仕入管理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整備入庫の導線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" y="3939449"/>
            <a:ext cx="9346000" cy="588957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lnSpc>
                <a:spcPct val="1108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整備で</a:t>
            </a:r>
            <a:r>
              <a:rPr b="1" sz="2600">
                <a:solidFill>
                  <a:srgbClr val="404040"/>
                </a:solidFill>
                <a:highlight>
                  <a:srgbClr val="FFFF00"/>
                </a:highlight>
                <a:latin typeface="メイリオ"/>
                <a:ea typeface="メイリオ"/>
              </a:rPr>
              <a:t>利益の土台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をつくり、M&amp;Aで</a:t>
            </a:r>
            <a:r>
              <a:rPr b="1" sz="2600">
                <a:solidFill>
                  <a:srgbClr val="404040"/>
                </a:solidFill>
                <a:highlight>
                  <a:srgbClr val="FFFF00"/>
                </a:highlight>
                <a:latin typeface="メイリオ"/>
                <a:ea typeface="メイリオ"/>
              </a:rPr>
              <a:t>規模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を広げる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>
          <a:xfrm>
            <a:off x="450000" y="1600000"/>
            <a:ext cx="9006000" cy="2150000"/>
          </a:xfrm>
        </p:spPr>
        <p:txBody>
          <a:bodyPr wrap="square" anchor="ctr"/>
          <a:lstStyle/>
          <a:p>
            <a:pPr algn="ctr">
              <a:lnSpc>
                <a:spcPct val="97500"/>
              </a:lnSpc>
            </a:pPr>
            <a:r>
              <a:rPr b="1" sz="4000">
                <a:solidFill>
                  <a:srgbClr val="FFFFFF"/>
                </a:solidFill>
                <a:latin typeface="メイリオ"/>
                <a:ea typeface="メイリオ"/>
              </a:rPr>
              <a:t>整備事業の</a:t>
            </a:r>
          </a:p>
          <a:p>
            <a:pPr algn="ctr">
              <a:lnSpc>
                <a:spcPct val="97500"/>
              </a:lnSpc>
            </a:pPr>
            <a:r>
              <a:rPr b="1" sz="4000">
                <a:solidFill>
                  <a:srgbClr val="FFFFFF"/>
                </a:solidFill>
                <a:latin typeface="メイリオ"/>
                <a:ea typeface="メイリオ"/>
              </a:rPr>
              <a:t>業績アップ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0000" y="1500000"/>
            <a:ext cx="9006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740000" y="3890000"/>
            <a:ext cx="6430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0000" y="5180000"/>
            <a:ext cx="9006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整備事業の課題仮説と打ち手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販売客の車検・点検を自社に取り込むことが最大の伸びしろ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4493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課題の仮説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882275"/>
            <a:ext cx="4493000" cy="223301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0000" y="1982275"/>
            <a:ext cx="4373000" cy="2073018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車検・点検の他社流出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追加整備の提案にばらつき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メカニックの採用が難しく受け切れない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ピット稼働が見えにくい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133000" y="1322275"/>
            <a:ext cx="4493000" cy="560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打ち手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3000" y="1882275"/>
            <a:ext cx="4493000" cy="223301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93000" y="1982275"/>
            <a:ext cx="4373000" cy="2073018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顧客台帳と次回入庫案内の仕組み化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点検時の提案メニューと単価の設計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工程・ピット稼働の見える化と予約管理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整備部門のKPI設計と月次管理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" y="4315293"/>
            <a:ext cx="9346000" cy="54673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lnSpc>
                <a:spcPct val="110800"/>
              </a:lnSpc>
            </a:pPr>
            <a:r>
              <a:rPr b="1" sz="2400">
                <a:solidFill>
                  <a:srgbClr val="404040"/>
                </a:solidFill>
                <a:latin typeface="メイリオ"/>
                <a:ea typeface="メイリオ"/>
              </a:rPr>
              <a:t>同じ人数・同じピットで、受けられる台数と利益を増やす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整備事業で目指す水準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人の生産性・粗利率・獲得効率の3つを同時に高める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0000" y="1362275"/>
            <a:ext cx="2216500" cy="7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メカニック1人あたり生産性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0000" y="2062275"/>
            <a:ext cx="2336500" cy="148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lnSpc>
                <a:spcPct val="88700"/>
              </a:lnSpc>
            </a:pPr>
            <a:r>
              <a:rPr b="1" sz="4400">
                <a:solidFill>
                  <a:srgbClr val="05648A"/>
                </a:solidFill>
                <a:latin typeface="メイリオ"/>
                <a:ea typeface="メイリオ"/>
              </a:rPr>
              <a:t>1,800</a:t>
            </a:r>
            <a:r>
              <a:rPr b="1" sz="1900">
                <a:solidFill>
                  <a:srgbClr val="05648A"/>
                </a:solidFill>
                <a:latin typeface="メイリオ"/>
                <a:ea typeface="メイリオ"/>
              </a:rPr>
              <a:t>万円/年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6500" y="1362275"/>
            <a:ext cx="2216500" cy="7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総人員1人あたり生産性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6500" y="2062275"/>
            <a:ext cx="2336500" cy="148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lnSpc>
                <a:spcPct val="88700"/>
              </a:lnSpc>
            </a:pPr>
            <a:r>
              <a:rPr b="1" sz="4400">
                <a:solidFill>
                  <a:srgbClr val="05648A"/>
                </a:solidFill>
                <a:latin typeface="メイリオ"/>
                <a:ea typeface="メイリオ"/>
              </a:rPr>
              <a:t>1,300</a:t>
            </a:r>
            <a:r>
              <a:rPr b="1" sz="1900">
                <a:solidFill>
                  <a:srgbClr val="05648A"/>
                </a:solidFill>
                <a:latin typeface="メイリオ"/>
                <a:ea typeface="メイリオ"/>
              </a:rPr>
              <a:t>万円/年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16500" y="1562275"/>
            <a:ext cx="0" cy="22000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13000" y="1362275"/>
            <a:ext cx="2216500" cy="7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整備部門の粗利率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2062275"/>
            <a:ext cx="2336500" cy="148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lnSpc>
                <a:spcPct val="88700"/>
              </a:lnSpc>
            </a:pPr>
            <a:r>
              <a:rPr b="1" sz="4400">
                <a:solidFill>
                  <a:srgbClr val="05648A"/>
                </a:solidFill>
                <a:latin typeface="メイリオ"/>
                <a:ea typeface="メイリオ"/>
              </a:rPr>
              <a:t>75</a:t>
            </a:r>
            <a:r>
              <a:rPr b="1" sz="1900">
                <a:solidFill>
                  <a:srgbClr val="05648A"/>
                </a:solidFill>
                <a:latin typeface="メイリオ"/>
                <a:ea typeface="メイリオ"/>
              </a:rPr>
              <a:t>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53000" y="1562275"/>
            <a:ext cx="0" cy="22000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500" y="1362275"/>
            <a:ext cx="2216500" cy="7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車検1台あたり粗利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9500" y="2062275"/>
            <a:ext cx="2336500" cy="148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lnSpc>
                <a:spcPct val="88700"/>
              </a:lnSpc>
            </a:pPr>
            <a:r>
              <a:rPr b="1" sz="4400">
                <a:solidFill>
                  <a:srgbClr val="05648A"/>
                </a:solidFill>
                <a:latin typeface="メイリオ"/>
                <a:ea typeface="メイリオ"/>
              </a:rPr>
              <a:t>48,000</a:t>
            </a:r>
            <a:r>
              <a:rPr b="1" sz="1900">
                <a:solidFill>
                  <a:srgbClr val="05648A"/>
                </a:solidFill>
                <a:latin typeface="メイリオ"/>
                <a:ea typeface="メイリオ"/>
              </a:rPr>
              <a:t>円以上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89500" y="1562275"/>
            <a:ext cx="0" cy="22000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G注記"/>
          <p:cNvSpPr txBox="1"/>
          <p:nvPr/>
        </p:nvSpPr>
        <p:spPr>
          <a:xfrm>
            <a:off x="280000" y="4042275"/>
            <a:ext cx="9346000" cy="3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1200">
                <a:solidFill>
                  <a:srgbClr val="808080"/>
                </a:solidFill>
                <a:latin typeface="メイリオ"/>
                <a:ea typeface="メイリオ"/>
              </a:rPr>
              <a:t>※ 当社支援先で目指す水準。現状診断のうえ、貴社の目標値を設定する。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>
          <a:xfrm>
            <a:off x="450000" y="1600000"/>
            <a:ext cx="9006000" cy="2150000"/>
          </a:xfrm>
        </p:spPr>
        <p:txBody>
          <a:bodyPr wrap="square" anchor="ctr"/>
          <a:lstStyle/>
          <a:p>
            <a:pPr algn="ctr">
              <a:lnSpc>
                <a:spcPct val="97500"/>
              </a:lnSpc>
            </a:pPr>
            <a:r>
              <a:rPr b="1" sz="4000">
                <a:solidFill>
                  <a:srgbClr val="FFFFFF"/>
                </a:solidFill>
                <a:latin typeface="メイリオ"/>
                <a:ea typeface="メイリオ"/>
              </a:rPr>
              <a:t>M&amp;A</a:t>
            </a:r>
          </a:p>
          <a:p>
            <a:pPr algn="ctr">
              <a:lnSpc>
                <a:spcPct val="97500"/>
              </a:lnSpc>
            </a:pPr>
            <a:r>
              <a:rPr b="1" sz="4000">
                <a:solidFill>
                  <a:srgbClr val="FFFFFF"/>
                </a:solidFill>
                <a:latin typeface="メイリオ"/>
                <a:ea typeface="メイリオ"/>
              </a:rPr>
              <a:t>コンサルティング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0000" y="1500000"/>
            <a:ext cx="9006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740000" y="3890000"/>
            <a:ext cx="6430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0000" y="5180000"/>
            <a:ext cx="9006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M&amp;A室代行の全体像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貴社専属のM&amp;A室として、案件発掘からクロージングまでを一貫して担う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戦略・要件定義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942275"/>
            <a:ext cx="2006500" cy="18663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00" y="2022275"/>
            <a:ext cx="1926500" cy="1726372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買いたい会社の条件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エリア・業態・規模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投資の上限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286500" y="2435461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265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案件発掘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6500" y="1942275"/>
            <a:ext cx="2006500" cy="18663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6500" y="2022275"/>
            <a:ext cx="1926500" cy="1726372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バイネームで直接打診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他社案件の収集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継続的なサーチ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4733000" y="2435461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30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精査・提案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73000" y="1942275"/>
            <a:ext cx="2006500" cy="18663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3000" y="2022275"/>
            <a:ext cx="1926500" cy="1726372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初期検討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財務・事業・リスク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案件の提案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7179500" y="2435461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195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交渉・統合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9500" y="1942275"/>
            <a:ext cx="2006500" cy="18663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9500" y="2022275"/>
            <a:ext cx="1926500" cy="1726372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条件交渉・基本合意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最終契約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統合（PMI）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0380" y="4936002"/>
            <a:ext cx="8785240" cy="119399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0380" y="5342501"/>
            <a:ext cx="381000" cy="381000"/>
          </a:xfrm>
          <a:prstGeom prst="ellipse">
            <a:avLst/>
          </a:prstGeom>
          <a:solidFill>
            <a:srgbClr val="ED61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05630" y="5456801"/>
            <a:ext cx="198120" cy="152400"/>
          </a:xfrm>
          <a:custGeom>
            <a:avLst/>
            <a:gdLst/>
            <a:ahLst/>
            <a:cxnLst/>
            <a:rect l="l" t="t" r="r" b="b"/>
            <a:pathLst>
              <a:path w="198120" h="152400">
                <a:moveTo>
                  <a:pt x="0" y="83820"/>
                </a:moveTo>
                <a:lnTo>
                  <a:pt x="72390" y="152400"/>
                </a:lnTo>
                <a:lnTo>
                  <a:pt x="198120" y="0"/>
                </a:lnTo>
              </a:path>
            </a:pathLst>
          </a:cu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1380" y="4936002"/>
            <a:ext cx="7954240" cy="1193998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115300"/>
              </a:lnSpc>
            </a:pPr>
            <a:r>
              <a:rPr b="1" sz="2400">
                <a:solidFill>
                  <a:srgbClr val="4472C4"/>
                </a:solidFill>
                <a:latin typeface="メイリオ"/>
                <a:ea typeface="メイリオ"/>
              </a:rPr>
              <a:t>社内に専門部署を持たなくても、専門家が貴社の買収部門として動く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2つの案件ルートの役割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攻めのバイネームと網羅の案件サーチで、案件の母数を最大化する</a:t>
            </a:r>
          </a:p>
        </p:txBody>
      </p:sp>
      <p:sp>
        <p:nvSpPr>
          <p:cNvPr id="4" name="PG表セル"/>
          <p:cNvSpPr/>
          <p:nvPr/>
        </p:nvSpPr>
        <p:spPr>
          <a:xfrm>
            <a:off x="280000" y="1322275"/>
            <a:ext cx="1495360" cy="500000"/>
          </a:xfrm>
          <a:prstGeom prst="rect">
            <a:avLst/>
          </a:prstGeom>
          <a:solidFill>
            <a:srgbClr val="404040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項目</a:t>
            </a:r>
          </a:p>
        </p:txBody>
      </p:sp>
      <p:sp>
        <p:nvSpPr>
          <p:cNvPr id="5" name="PG表セル"/>
          <p:cNvSpPr/>
          <p:nvPr/>
        </p:nvSpPr>
        <p:spPr>
          <a:xfrm>
            <a:off x="1775360" y="1322275"/>
            <a:ext cx="3925320" cy="500000"/>
          </a:xfrm>
          <a:prstGeom prst="rect">
            <a:avLst/>
          </a:prstGeom>
          <a:solidFill>
            <a:srgbClr val="404040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① バイネームアプローチ</a:t>
            </a:r>
          </a:p>
        </p:txBody>
      </p:sp>
      <p:sp>
        <p:nvSpPr>
          <p:cNvPr id="6" name="PG表セル"/>
          <p:cNvSpPr/>
          <p:nvPr/>
        </p:nvSpPr>
        <p:spPr>
          <a:xfrm>
            <a:off x="5700680" y="1322275"/>
            <a:ext cx="3925320" cy="500000"/>
          </a:xfrm>
          <a:prstGeom prst="rect">
            <a:avLst/>
          </a:prstGeom>
          <a:solidFill>
            <a:srgbClr val="404040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② 他社案件の収集・精査</a:t>
            </a:r>
          </a:p>
        </p:txBody>
      </p:sp>
      <p:sp>
        <p:nvSpPr>
          <p:cNvPr id="7" name="PG表セル"/>
          <p:cNvSpPr/>
          <p:nvPr/>
        </p:nvSpPr>
        <p:spPr>
          <a:xfrm>
            <a:off x="280000" y="1822275"/>
            <a:ext cx="1495360" cy="620000"/>
          </a:xfrm>
          <a:prstGeom prst="rect">
            <a:avLst/>
          </a:prstGeom>
          <a:solidFill>
            <a:srgbClr val="D9D9D9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ねらい</a:t>
            </a:r>
          </a:p>
        </p:txBody>
      </p:sp>
      <p:sp>
        <p:nvSpPr>
          <p:cNvPr id="8" name="PG表セル"/>
          <p:cNvSpPr/>
          <p:nvPr/>
        </p:nvSpPr>
        <p:spPr>
          <a:xfrm>
            <a:off x="1775360" y="1822275"/>
            <a:ext cx="392532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欲しい会社に直接アプローチ</a:t>
            </a:r>
          </a:p>
        </p:txBody>
      </p:sp>
      <p:sp>
        <p:nvSpPr>
          <p:cNvPr id="9" name="PG表セル"/>
          <p:cNvSpPr/>
          <p:nvPr/>
        </p:nvSpPr>
        <p:spPr>
          <a:xfrm>
            <a:off x="5700680" y="1822275"/>
            <a:ext cx="392532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市場の売り案件を網羅</a:t>
            </a:r>
          </a:p>
        </p:txBody>
      </p:sp>
      <p:sp>
        <p:nvSpPr>
          <p:cNvPr id="10" name="PG表セル"/>
          <p:cNvSpPr/>
          <p:nvPr/>
        </p:nvSpPr>
        <p:spPr>
          <a:xfrm>
            <a:off x="280000" y="2442275"/>
            <a:ext cx="1495360" cy="620000"/>
          </a:xfrm>
          <a:prstGeom prst="rect">
            <a:avLst/>
          </a:prstGeom>
          <a:solidFill>
            <a:srgbClr val="D9D9D9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進め方</a:t>
            </a:r>
          </a:p>
        </p:txBody>
      </p:sp>
      <p:sp>
        <p:nvSpPr>
          <p:cNvPr id="11" name="PG表セル"/>
          <p:cNvSpPr/>
          <p:nvPr/>
        </p:nvSpPr>
        <p:spPr>
          <a:xfrm>
            <a:off x="1775360" y="2442275"/>
            <a:ext cx="392532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名指しでリスト化し、手紙・電話・訪問で打診</a:t>
            </a:r>
          </a:p>
        </p:txBody>
      </p:sp>
      <p:sp>
        <p:nvSpPr>
          <p:cNvPr id="12" name="PG表セル"/>
          <p:cNvSpPr/>
          <p:nvPr/>
        </p:nvSpPr>
        <p:spPr>
          <a:xfrm>
            <a:off x="5700680" y="2442275"/>
            <a:ext cx="392532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仲介会社・金融機関・FAの売り案件を収集し精査</a:t>
            </a:r>
          </a:p>
        </p:txBody>
      </p:sp>
      <p:sp>
        <p:nvSpPr>
          <p:cNvPr id="13" name="PG表セル"/>
          <p:cNvSpPr/>
          <p:nvPr/>
        </p:nvSpPr>
        <p:spPr>
          <a:xfrm>
            <a:off x="280000" y="3062275"/>
            <a:ext cx="1495360" cy="620000"/>
          </a:xfrm>
          <a:prstGeom prst="rect">
            <a:avLst/>
          </a:prstGeom>
          <a:solidFill>
            <a:srgbClr val="D9D9D9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成果物</a:t>
            </a:r>
          </a:p>
        </p:txBody>
      </p:sp>
      <p:sp>
        <p:nvSpPr>
          <p:cNvPr id="14" name="PG表セル"/>
          <p:cNvSpPr/>
          <p:nvPr/>
        </p:nvSpPr>
        <p:spPr>
          <a:xfrm>
            <a:off x="1775360" y="3062275"/>
            <a:ext cx="392532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打診結果の一覧・面談設定</a:t>
            </a:r>
          </a:p>
        </p:txBody>
      </p:sp>
      <p:sp>
        <p:nvSpPr>
          <p:cNvPr id="15" name="PG表セル"/>
          <p:cNvSpPr/>
          <p:nvPr/>
        </p:nvSpPr>
        <p:spPr>
          <a:xfrm>
            <a:off x="5700680" y="3062275"/>
            <a:ext cx="392532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精査済みの案件提案書</a:t>
            </a:r>
          </a:p>
        </p:txBody>
      </p:sp>
      <p:sp>
        <p:nvSpPr>
          <p:cNvPr id="16" name="PG表セル"/>
          <p:cNvSpPr/>
          <p:nvPr/>
        </p:nvSpPr>
        <p:spPr>
          <a:xfrm>
            <a:off x="280000" y="3682275"/>
            <a:ext cx="1495360" cy="620000"/>
          </a:xfrm>
          <a:prstGeom prst="rect">
            <a:avLst/>
          </a:prstGeom>
          <a:solidFill>
            <a:srgbClr val="D9D9D9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強み</a:t>
            </a:r>
          </a:p>
        </p:txBody>
      </p:sp>
      <p:sp>
        <p:nvSpPr>
          <p:cNvPr id="17" name="PG表セル"/>
          <p:cNvSpPr/>
          <p:nvPr/>
        </p:nvSpPr>
        <p:spPr>
          <a:xfrm>
            <a:off x="1775360" y="3682275"/>
            <a:ext cx="392532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市場に出る前の案件に出会える</a:t>
            </a:r>
          </a:p>
        </p:txBody>
      </p:sp>
      <p:sp>
        <p:nvSpPr>
          <p:cNvPr id="18" name="PG表セル"/>
          <p:cNvSpPr/>
          <p:nvPr/>
        </p:nvSpPr>
        <p:spPr>
          <a:xfrm>
            <a:off x="5700680" y="3682275"/>
            <a:ext cx="392532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案件の数を確保できる</a:t>
            </a:r>
          </a:p>
        </p:txBody>
      </p:sp>
      <p:sp>
        <p:nvSpPr>
          <p:cNvPr id="19" name="PG注記"/>
          <p:cNvSpPr txBox="1"/>
          <p:nvPr/>
        </p:nvSpPr>
        <p:spPr>
          <a:xfrm>
            <a:off x="280000" y="4402275"/>
            <a:ext cx="9346000" cy="3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1200">
                <a:solidFill>
                  <a:srgbClr val="808080"/>
                </a:solidFill>
                <a:latin typeface="メイリオ"/>
                <a:ea typeface="メイリオ"/>
              </a:rPr>
              <a:t>※ 対象は長野県内および近隣エリアの整備工場・鈑金工場・販売店を想定。条件は初回の要件定義で確定する。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M&amp;Aの進め方と目標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100件を確認して1件を成約する流れで進める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案件発掘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942275"/>
            <a:ext cx="2006500" cy="1244783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00" y="2022275"/>
            <a:ext cx="1926500" cy="1104783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M&amp;Aファーム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M&amp;Aポータル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バイネーム打診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286500" y="2124666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265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案件確認 100件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6500" y="1942275"/>
            <a:ext cx="2006500" cy="1244783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6500" y="2022275"/>
            <a:ext cx="1926500" cy="1104783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ノンネーム情報で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方針との適合を確認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4733000" y="2124666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30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検討・交渉 数件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73000" y="1942275"/>
            <a:ext cx="2006500" cy="1244783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3000" y="2022275"/>
            <a:ext cx="1926500" cy="1104783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詳細情報の確認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トップ面談・意向表明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7179500" y="2124666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195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成約 1件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9500" y="1942275"/>
            <a:ext cx="2006500" cy="1244783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9500" y="2022275"/>
            <a:ext cx="1926500" cy="1104783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条件合意・DD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最終契約・統合支援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0380" y="4936002"/>
            <a:ext cx="8785240" cy="119399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0380" y="5342501"/>
            <a:ext cx="381000" cy="381000"/>
          </a:xfrm>
          <a:prstGeom prst="ellipse">
            <a:avLst/>
          </a:prstGeom>
          <a:solidFill>
            <a:srgbClr val="ED61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05630" y="5456801"/>
            <a:ext cx="198120" cy="152400"/>
          </a:xfrm>
          <a:custGeom>
            <a:avLst/>
            <a:gdLst/>
            <a:ahLst/>
            <a:cxnLst/>
            <a:rect l="l" t="t" r="r" b="b"/>
            <a:pathLst>
              <a:path w="198120" h="152400">
                <a:moveTo>
                  <a:pt x="0" y="83820"/>
                </a:moveTo>
                <a:lnTo>
                  <a:pt x="72390" y="152400"/>
                </a:lnTo>
                <a:lnTo>
                  <a:pt x="198120" y="0"/>
                </a:lnTo>
              </a:path>
            </a:pathLst>
          </a:cu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1380" y="4936002"/>
            <a:ext cx="7954240" cy="1193998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115300"/>
              </a:lnSpc>
            </a:pPr>
            <a:r>
              <a:rPr b="1" sz="2400">
                <a:solidFill>
                  <a:srgbClr val="4472C4"/>
                </a:solidFill>
                <a:latin typeface="メイリオ"/>
                <a:ea typeface="メイリオ"/>
              </a:rPr>
              <a:t>後継者不在の整備・鈑金工場、販売店を中心に、年間の成約を目指す</a:t>
            </a:r>
          </a:p>
        </p:txBody>
      </p:sp>
      <p:sp>
        <p:nvSpPr>
          <p:cNvPr id="23" name="PG注記"/>
          <p:cNvSpPr txBox="1"/>
          <p:nvPr/>
        </p:nvSpPr>
        <p:spPr>
          <a:xfrm>
            <a:off x="280000" y="6170000"/>
            <a:ext cx="9346000" cy="3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1200">
                <a:solidFill>
                  <a:srgbClr val="808080"/>
                </a:solidFill>
                <a:latin typeface="メイリオ"/>
                <a:ea typeface="メイリオ"/>
              </a:rPr>
              <a:t>※ 案件数・成約数は進め方の目安。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>
          <a:xfrm>
            <a:off x="450000" y="1600000"/>
            <a:ext cx="9006000" cy="2150000"/>
          </a:xfrm>
        </p:spPr>
        <p:txBody>
          <a:bodyPr wrap="square" anchor="ctr"/>
          <a:lstStyle/>
          <a:p>
            <a:pPr algn="ctr">
              <a:lnSpc>
                <a:spcPct val="97500"/>
              </a:lnSpc>
            </a:pPr>
            <a:r>
              <a:rPr b="1" sz="4000">
                <a:solidFill>
                  <a:srgbClr val="FFFFFF"/>
                </a:solidFill>
                <a:latin typeface="メイリオ"/>
                <a:ea typeface="メイリオ"/>
              </a:rPr>
              <a:t>自動車販売コンサルティング</a:t>
            </a:r>
          </a:p>
          <a:p>
            <a:pPr algn="ctr">
              <a:lnSpc>
                <a:spcPct val="97500"/>
              </a:lnSpc>
            </a:pPr>
            <a:r>
              <a:rPr b="1" sz="4000">
                <a:solidFill>
                  <a:srgbClr val="FFFFFF"/>
                </a:solidFill>
                <a:latin typeface="メイリオ"/>
                <a:ea typeface="メイリオ"/>
              </a:rPr>
              <a:t>（＋α）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0000" y="1500000"/>
            <a:ext cx="9006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740000" y="3890000"/>
            <a:ext cx="6430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0000" y="5180000"/>
            <a:ext cx="9006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販売事業の課題仮説と打ち手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販売で獲得したお客様を、整備につなぐ仕組みをつくる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4493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課題の仮説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882275"/>
            <a:ext cx="4493000" cy="188337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0000" y="1982275"/>
            <a:ext cx="4373000" cy="1723374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商談の進め方が担当者で異なる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在庫・仕入の判断が属人的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販売後の点検・車検の案内が弱い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店長・営業の育成が追いつかない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133000" y="1322275"/>
            <a:ext cx="4493000" cy="56000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打ち手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3000" y="1882275"/>
            <a:ext cx="4493000" cy="188337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93000" y="1982275"/>
            <a:ext cx="4373000" cy="1723374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商談プロセスの標準化とKPI設定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在庫回転・台当たり粗利の管理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納車後の点検・車検の予約化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800">
                <a:solidFill>
                  <a:srgbClr val="404040"/>
                </a:solidFill>
                <a:latin typeface="メイリオ"/>
                <a:ea typeface="メイリオ"/>
              </a:rPr>
              <a:t>店長のマネジメントと営業の育成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" y="3965649"/>
            <a:ext cx="9346000" cy="54673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lnSpc>
                <a:spcPct val="110800"/>
              </a:lnSpc>
            </a:pPr>
            <a:r>
              <a:rPr b="1" sz="2400">
                <a:solidFill>
                  <a:srgbClr val="404040"/>
                </a:solidFill>
                <a:latin typeface="メイリオ"/>
                <a:ea typeface="メイリオ"/>
              </a:rPr>
              <a:t>販売客を整備の入庫につなぎ、事業全体の収益を高める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お客様の動線でつなぐ3事業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販売から整備、買い替えまでの生涯取引で利益を積み上げる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販売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942275"/>
            <a:ext cx="2006500" cy="1193983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00" y="2022275"/>
            <a:ext cx="1926500" cy="1053983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商談の標準化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付帯商品の提案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286500" y="2099266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265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点検・車検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6500" y="1942275"/>
            <a:ext cx="2006500" cy="1193983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6500" y="2022275"/>
            <a:ext cx="1926500" cy="1053983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入庫案内の仕組み化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追加整備の提案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4733000" y="2099266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30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整備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73000" y="1942275"/>
            <a:ext cx="2006500" cy="1193983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3000" y="2022275"/>
            <a:ext cx="1926500" cy="1053983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ピット稼働の管理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単価の向上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7179500" y="2099266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19500" y="1322275"/>
            <a:ext cx="20065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買い替え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9500" y="1942275"/>
            <a:ext cx="2006500" cy="1193983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9500" y="2022275"/>
            <a:ext cx="1926500" cy="1053983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顧客台帳の活用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600">
                <a:solidFill>
                  <a:srgbClr val="404040"/>
                </a:solidFill>
                <a:latin typeface="メイリオ"/>
                <a:ea typeface="メイリオ"/>
              </a:rPr>
              <a:t>下取り・買取の提案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0380" y="5463001"/>
            <a:ext cx="8785240" cy="666999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0380" y="5606000"/>
            <a:ext cx="381000" cy="381000"/>
          </a:xfrm>
          <a:prstGeom prst="ellipse">
            <a:avLst/>
          </a:prstGeom>
          <a:solidFill>
            <a:srgbClr val="ED61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05630" y="5720300"/>
            <a:ext cx="198120" cy="152400"/>
          </a:xfrm>
          <a:custGeom>
            <a:avLst/>
            <a:gdLst/>
            <a:ahLst/>
            <a:cxnLst/>
            <a:rect l="l" t="t" r="r" b="b"/>
            <a:pathLst>
              <a:path w="198120" h="152400">
                <a:moveTo>
                  <a:pt x="0" y="83820"/>
                </a:moveTo>
                <a:lnTo>
                  <a:pt x="72390" y="152400"/>
                </a:lnTo>
                <a:lnTo>
                  <a:pt x="198120" y="0"/>
                </a:lnTo>
              </a:path>
            </a:pathLst>
          </a:cu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1380" y="5463001"/>
            <a:ext cx="7954240" cy="666999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115300"/>
              </a:lnSpc>
            </a:pPr>
            <a:r>
              <a:rPr b="1" sz="2400">
                <a:solidFill>
                  <a:srgbClr val="4472C4"/>
                </a:solidFill>
                <a:latin typeface="メイリオ"/>
                <a:ea typeface="メイリオ"/>
              </a:rPr>
              <a:t>3事業を別々に見ず、1つの顧客接点として管理する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>
          <a:xfrm>
            <a:off x="450000" y="1600000"/>
            <a:ext cx="9006000" cy="2150000"/>
          </a:xfrm>
        </p:spPr>
        <p:txBody>
          <a:bodyPr wrap="square" anchor="ctr"/>
          <a:lstStyle/>
          <a:p>
            <a:pPr algn="ctr">
              <a:lnSpc>
                <a:spcPct val="97500"/>
              </a:lnSpc>
            </a:pPr>
            <a:r>
              <a:rPr b="1" sz="4000">
                <a:solidFill>
                  <a:srgbClr val="FFFFFF"/>
                </a:solidFill>
                <a:latin typeface="メイリオ"/>
                <a:ea typeface="メイリオ"/>
              </a:rPr>
              <a:t>支援体制と</a:t>
            </a:r>
          </a:p>
          <a:p>
            <a:pPr algn="ctr">
              <a:lnSpc>
                <a:spcPct val="97500"/>
              </a:lnSpc>
            </a:pPr>
            <a:r>
              <a:rPr b="1" sz="4000">
                <a:solidFill>
                  <a:srgbClr val="FFFFFF"/>
                </a:solidFill>
                <a:latin typeface="メイリオ"/>
                <a:ea typeface="メイリオ"/>
              </a:rPr>
              <a:t>進め方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0000" y="1500000"/>
            <a:ext cx="9006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740000" y="3890000"/>
            <a:ext cx="6430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0000" y="5180000"/>
            <a:ext cx="90060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支援体制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88455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月1回の定例ミーティングを軸に、オンラインと現場訪問を組み合わせて伴走する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744550"/>
            <a:ext cx="2982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月1回の定例ミーティング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2304550"/>
            <a:ext cx="2982000" cy="2135895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0000" y="2404550"/>
            <a:ext cx="2862000" cy="197589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経営幹部・部門責任者が参加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月次KPIの確認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翌月の重点施策の決定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M&amp;A案件の進捗共有</a:t>
            </a:r>
          </a:p>
        </p:txBody>
      </p:sp>
      <p:sp>
        <p:nvSpPr>
          <p:cNvPr id="7" name="Rectangle 6"/>
          <p:cNvSpPr/>
          <p:nvPr/>
        </p:nvSpPr>
        <p:spPr>
          <a:xfrm>
            <a:off x="3462000" y="1744550"/>
            <a:ext cx="2982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オンライン進捗ミーティング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3462000" y="2304550"/>
            <a:ext cx="2982000" cy="2135895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2000" y="2404550"/>
            <a:ext cx="2862000" cy="197589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各拠点の責任者と実施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施策の進捗確認と軌道修正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現場からの相談に随時対応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44000" y="1744550"/>
            <a:ext cx="2982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長野県内の拠点訪問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4000" y="2304550"/>
            <a:ext cx="2982000" cy="2135895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4000" y="2404550"/>
            <a:ext cx="2862000" cy="197589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整備・販売現場の確認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責任者・スタッフへの直接指導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モデル拠点の構築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" y="4640445"/>
            <a:ext cx="9346000" cy="54673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lnSpc>
                <a:spcPct val="110800"/>
              </a:lnSpc>
            </a:pPr>
            <a:r>
              <a:rPr b="1" sz="2400">
                <a:solidFill>
                  <a:srgbClr val="404040"/>
                </a:solidFill>
                <a:latin typeface="メイリオ"/>
                <a:ea typeface="メイリオ"/>
              </a:rPr>
              <a:t>会議で決めて、オンラインで回し、現場で確かめる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支援の進め方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現状診断から始め、モデル拠点で成果を出してから全拠点に展開する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28220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現状診断　1〜2か月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942275"/>
            <a:ext cx="2822000" cy="1303057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00" y="2022275"/>
            <a:ext cx="2742000" cy="1163057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整備・販売の数値診断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拠点別KPIの比較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M&amp;Aの条件定義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3102000" y="2153803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42000" y="1322275"/>
            <a:ext cx="28220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実行　3〜6か月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000" y="1942275"/>
            <a:ext cx="2822000" cy="1303057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2000" y="2022275"/>
            <a:ext cx="2742000" cy="1163057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整備の優先施策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バイネーム打診・案件精査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月次の定例ミーティング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6364000" y="2153803"/>
            <a:ext cx="440000" cy="260000"/>
          </a:xfrm>
          <a:prstGeom prst="triangl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04000" y="1322275"/>
            <a:ext cx="2822000" cy="62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展開　7か月〜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04000" y="1942275"/>
            <a:ext cx="2822000" cy="1303057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4000" y="2022275"/>
            <a:ext cx="2742000" cy="1163057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全拠点への横展開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KPI管理の定着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M&amp;A案件の交渉・統合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0380" y="5463001"/>
            <a:ext cx="8785240" cy="666999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0380" y="5606000"/>
            <a:ext cx="381000" cy="381000"/>
          </a:xfrm>
          <a:prstGeom prst="ellipse">
            <a:avLst/>
          </a:prstGeom>
          <a:solidFill>
            <a:srgbClr val="ED61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05630" y="5720300"/>
            <a:ext cx="198120" cy="152400"/>
          </a:xfrm>
          <a:custGeom>
            <a:avLst/>
            <a:gdLst/>
            <a:ahLst/>
            <a:cxnLst/>
            <a:rect l="l" t="t" r="r" b="b"/>
            <a:pathLst>
              <a:path w="198120" h="152400">
                <a:moveTo>
                  <a:pt x="0" y="83820"/>
                </a:moveTo>
                <a:lnTo>
                  <a:pt x="72390" y="152400"/>
                </a:lnTo>
                <a:lnTo>
                  <a:pt x="198120" y="0"/>
                </a:lnTo>
              </a:path>
            </a:pathLst>
          </a:custGeom>
          <a:noFill/>
          <a:ln w="419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1380" y="5463001"/>
            <a:ext cx="7954240" cy="666999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115300"/>
              </a:lnSpc>
            </a:pPr>
            <a:r>
              <a:rPr b="1" sz="2400">
                <a:solidFill>
                  <a:srgbClr val="4472C4"/>
                </a:solidFill>
                <a:latin typeface="メイリオ"/>
                <a:ea typeface="メイリオ"/>
              </a:rPr>
              <a:t>M&amp;Aは診断と並行して、要件定義と案件発掘から始める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ご支援先（一部）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自動車販売・整備・鈑金に取り組む企業様をご支援している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000" y="1322275"/>
            <a:ext cx="9346000" cy="5600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2000">
                <a:solidFill>
                  <a:srgbClr val="FFFFFF"/>
                </a:solidFill>
                <a:latin typeface="メイリオ"/>
                <a:ea typeface="メイリオ"/>
              </a:rPr>
              <a:t>ご支援先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280000" y="1882275"/>
            <a:ext cx="9346000" cy="296815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0000" y="1982275"/>
            <a:ext cx="9226000" cy="2808158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株式会社リバティ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株式会社古城モータース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株式会社フジカーランド上田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ナイル株式会社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株式会社七洋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・</a:t>
            </a: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株式会社カミタケモータース</a:t>
            </a:r>
          </a:p>
        </p:txBody>
      </p:sp>
      <p:sp>
        <p:nvSpPr>
          <p:cNvPr id="7" name="PG注記"/>
          <p:cNvSpPr txBox="1"/>
          <p:nvPr/>
        </p:nvSpPr>
        <p:spPr>
          <a:xfrm>
            <a:off x="280000" y="4930433"/>
            <a:ext cx="9346000" cy="3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1200">
                <a:solidFill>
                  <a:srgbClr val="808080"/>
                </a:solidFill>
                <a:latin typeface="メイリオ"/>
                <a:ea typeface="メイリオ"/>
              </a:rPr>
              <a:t>ほか多数（順不同・敬称略）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0000" y="5300433"/>
            <a:ext cx="9346000" cy="504502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lnSpc>
                <a:spcPct val="110800"/>
              </a:lnSpc>
            </a:pPr>
            <a:r>
              <a:rPr b="1" sz="2200">
                <a:solidFill>
                  <a:srgbClr val="404040"/>
                </a:solidFill>
                <a:latin typeface="メイリオ"/>
                <a:ea typeface="メイリオ"/>
              </a:rPr>
              <a:t>業界特化の知見と、他社で成果の出た仕組みを貴社に合わせて導入する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ご支援費用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整備事業とM&amp;Aを軸に、月額と案件単位で費用を設定する</a:t>
            </a:r>
          </a:p>
        </p:txBody>
      </p:sp>
      <p:sp>
        <p:nvSpPr>
          <p:cNvPr id="4" name="PG表セル"/>
          <p:cNvSpPr/>
          <p:nvPr/>
        </p:nvSpPr>
        <p:spPr>
          <a:xfrm>
            <a:off x="280000" y="1322275"/>
            <a:ext cx="3177640" cy="500000"/>
          </a:xfrm>
          <a:prstGeom prst="rect">
            <a:avLst/>
          </a:prstGeom>
          <a:solidFill>
            <a:srgbClr val="404040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支援メニュー</a:t>
            </a:r>
          </a:p>
        </p:txBody>
      </p:sp>
      <p:sp>
        <p:nvSpPr>
          <p:cNvPr id="5" name="PG表セル"/>
          <p:cNvSpPr/>
          <p:nvPr/>
        </p:nvSpPr>
        <p:spPr>
          <a:xfrm>
            <a:off x="3457640" y="1322275"/>
            <a:ext cx="3738400" cy="500000"/>
          </a:xfrm>
          <a:prstGeom prst="rect">
            <a:avLst/>
          </a:prstGeom>
          <a:solidFill>
            <a:srgbClr val="404040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内容</a:t>
            </a:r>
          </a:p>
        </p:txBody>
      </p:sp>
      <p:sp>
        <p:nvSpPr>
          <p:cNvPr id="6" name="PG表セル"/>
          <p:cNvSpPr/>
          <p:nvPr/>
        </p:nvSpPr>
        <p:spPr>
          <a:xfrm>
            <a:off x="7196040" y="1322275"/>
            <a:ext cx="2429960" cy="500000"/>
          </a:xfrm>
          <a:prstGeom prst="rect">
            <a:avLst/>
          </a:prstGeom>
          <a:solidFill>
            <a:srgbClr val="404040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30000" bIns="30000"/>
          <a:lstStyle/>
          <a:p>
            <a:pPr algn="ctr">
              <a:lnSpc>
                <a:spcPct val="88700"/>
              </a:lnSpc>
            </a:pPr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料金（税別・想定）</a:t>
            </a:r>
          </a:p>
        </p:txBody>
      </p:sp>
      <p:sp>
        <p:nvSpPr>
          <p:cNvPr id="7" name="PG表セル"/>
          <p:cNvSpPr/>
          <p:nvPr/>
        </p:nvSpPr>
        <p:spPr>
          <a:xfrm>
            <a:off x="280000" y="1822275"/>
            <a:ext cx="3177640" cy="640000"/>
          </a:xfrm>
          <a:prstGeom prst="rect">
            <a:avLst/>
          </a:prstGeom>
          <a:solidFill>
            <a:srgbClr val="D9D9D9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整備事業コンサルティング</a:t>
            </a:r>
          </a:p>
        </p:txBody>
      </p:sp>
      <p:sp>
        <p:nvSpPr>
          <p:cNvPr id="8" name="PG表セル"/>
          <p:cNvSpPr/>
          <p:nvPr/>
        </p:nvSpPr>
        <p:spPr>
          <a:xfrm>
            <a:off x="3457640" y="1822275"/>
            <a:ext cx="3738400" cy="6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現状診断・KPI設計・月次伴走</a:t>
            </a:r>
          </a:p>
        </p:txBody>
      </p:sp>
      <p:sp>
        <p:nvSpPr>
          <p:cNvPr id="9" name="PG表セル"/>
          <p:cNvSpPr/>
          <p:nvPr/>
        </p:nvSpPr>
        <p:spPr>
          <a:xfrm>
            <a:off x="7196040" y="1822275"/>
            <a:ext cx="2429960" cy="6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月30万円</a:t>
            </a:r>
          </a:p>
        </p:txBody>
      </p:sp>
      <p:sp>
        <p:nvSpPr>
          <p:cNvPr id="10" name="PG表セル"/>
          <p:cNvSpPr/>
          <p:nvPr/>
        </p:nvSpPr>
        <p:spPr>
          <a:xfrm>
            <a:off x="280000" y="2462275"/>
            <a:ext cx="3177640" cy="640000"/>
          </a:xfrm>
          <a:prstGeom prst="rect">
            <a:avLst/>
          </a:prstGeom>
          <a:solidFill>
            <a:srgbClr val="D9D9D9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M&amp;A：バイネームアプローチ</a:t>
            </a:r>
          </a:p>
        </p:txBody>
      </p:sp>
      <p:sp>
        <p:nvSpPr>
          <p:cNvPr id="11" name="PG表セル"/>
          <p:cNvSpPr/>
          <p:nvPr/>
        </p:nvSpPr>
        <p:spPr>
          <a:xfrm>
            <a:off x="3457640" y="2462275"/>
            <a:ext cx="3738400" cy="6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リスト作成と100社への打診（2か月）</a:t>
            </a:r>
          </a:p>
        </p:txBody>
      </p:sp>
      <p:sp>
        <p:nvSpPr>
          <p:cNvPr id="12" name="PG表セル"/>
          <p:cNvSpPr/>
          <p:nvPr/>
        </p:nvSpPr>
        <p:spPr>
          <a:xfrm>
            <a:off x="7196040" y="2462275"/>
            <a:ext cx="2429960" cy="6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100社につき100万円</a:t>
            </a:r>
          </a:p>
        </p:txBody>
      </p:sp>
      <p:sp>
        <p:nvSpPr>
          <p:cNvPr id="13" name="PG表セル"/>
          <p:cNvSpPr/>
          <p:nvPr/>
        </p:nvSpPr>
        <p:spPr>
          <a:xfrm>
            <a:off x="280000" y="3102275"/>
            <a:ext cx="3177640" cy="640000"/>
          </a:xfrm>
          <a:prstGeom prst="rect">
            <a:avLst/>
          </a:prstGeom>
          <a:solidFill>
            <a:srgbClr val="D9D9D9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M&amp;A：案件の収集・精査・提案</a:t>
            </a:r>
          </a:p>
        </p:txBody>
      </p:sp>
      <p:sp>
        <p:nvSpPr>
          <p:cNvPr id="14" name="PG表セル"/>
          <p:cNvSpPr/>
          <p:nvPr/>
        </p:nvSpPr>
        <p:spPr>
          <a:xfrm>
            <a:off x="3457640" y="3102275"/>
            <a:ext cx="3738400" cy="6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他社案件の収集・精査・サーチ（1年契約）</a:t>
            </a:r>
          </a:p>
        </p:txBody>
      </p:sp>
      <p:sp>
        <p:nvSpPr>
          <p:cNvPr id="15" name="PG表セル"/>
          <p:cNvSpPr/>
          <p:nvPr/>
        </p:nvSpPr>
        <p:spPr>
          <a:xfrm>
            <a:off x="7196040" y="3102275"/>
            <a:ext cx="2429960" cy="6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月30万円</a:t>
            </a:r>
          </a:p>
        </p:txBody>
      </p:sp>
      <p:sp>
        <p:nvSpPr>
          <p:cNvPr id="16" name="PG表セル"/>
          <p:cNvSpPr/>
          <p:nvPr/>
        </p:nvSpPr>
        <p:spPr>
          <a:xfrm>
            <a:off x="280000" y="3742275"/>
            <a:ext cx="3177640" cy="640000"/>
          </a:xfrm>
          <a:prstGeom prst="rect">
            <a:avLst/>
          </a:prstGeom>
          <a:solidFill>
            <a:srgbClr val="D9D9D9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自動車販売コンサルティング（＋α）</a:t>
            </a:r>
          </a:p>
        </p:txBody>
      </p:sp>
      <p:sp>
        <p:nvSpPr>
          <p:cNvPr id="17" name="PG表セル"/>
          <p:cNvSpPr/>
          <p:nvPr/>
        </p:nvSpPr>
        <p:spPr>
          <a:xfrm>
            <a:off x="3457640" y="3742275"/>
            <a:ext cx="3738400" cy="6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販売の仕組み・整備連携</a:t>
            </a:r>
          </a:p>
        </p:txBody>
      </p:sp>
      <p:sp>
        <p:nvSpPr>
          <p:cNvPr id="18" name="PG表セル"/>
          <p:cNvSpPr/>
          <p:nvPr/>
        </p:nvSpPr>
        <p:spPr>
          <a:xfrm>
            <a:off x="7196040" y="3742275"/>
            <a:ext cx="2429960" cy="6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30000" bIns="30000"/>
          <a:lstStyle/>
          <a:p>
            <a:pPr algn="l">
              <a:lnSpc>
                <a:spcPct val="88700"/>
              </a:lnSpc>
            </a:pPr>
            <a:r>
              <a:rPr b="1" sz="1700">
                <a:solidFill>
                  <a:srgbClr val="404040"/>
                </a:solidFill>
                <a:latin typeface="メイリオ"/>
                <a:ea typeface="メイリオ"/>
              </a:rPr>
              <a:t>別途お見積り</a:t>
            </a:r>
          </a:p>
        </p:txBody>
      </p:sp>
      <p:sp>
        <p:nvSpPr>
          <p:cNvPr id="19" name="PG注記"/>
          <p:cNvSpPr txBox="1"/>
          <p:nvPr/>
        </p:nvSpPr>
        <p:spPr>
          <a:xfrm>
            <a:off x="280000" y="4482275"/>
            <a:ext cx="9346000" cy="300000"/>
          </a:xfrm>
          <a:prstGeom prst="rect">
            <a:avLst/>
          </a:prstGeom>
          <a:noFill/>
        </p:spPr>
        <p:txBody>
          <a:bodyPr wrap="square" anchor="b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1200">
                <a:solidFill>
                  <a:srgbClr val="808080"/>
                </a:solidFill>
                <a:latin typeface="メイリオ"/>
                <a:ea typeface="メイリオ"/>
              </a:rPr>
              <a:t>※ 金額は想定。支援範囲・拠点数の確認後に確定する。M&amp;A成約時の報酬の扱いは別途ご相談。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800" b="1">
                <a:latin typeface="メイリオ"/>
                <a:ea typeface="メイリオ"/>
              </a:rPr>
              <a:t>次のステップ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0000" y="800000"/>
            <a:ext cx="9346000" cy="462275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lnSpc>
                <a:spcPct val="110800"/>
              </a:lnSpc>
            </a:pPr>
            <a:r>
              <a:rPr b="1" sz="2000">
                <a:solidFill>
                  <a:srgbClr val="404040"/>
                </a:solidFill>
                <a:latin typeface="メイリオ"/>
                <a:ea typeface="メイリオ"/>
              </a:rPr>
              <a:t>まずは現状をお聞きし、優先テーマと開始時期をご相談したい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000" y="1322275"/>
            <a:ext cx="8646000" cy="1244431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1.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現状ヒアリング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事業別の業績・KPI・課題の共有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000" y="2566706"/>
            <a:ext cx="8646000" cy="1244431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2.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M&amp;A条件のすり合わせ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エリア・業態・規模・投資上限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" y="3811137"/>
            <a:ext cx="8646000" cy="1244431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3.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簡易診断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整備・販売の数値診断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" y="5055568"/>
            <a:ext cx="8646000" cy="1244431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lnSpc>
                <a:spcPct val="88700"/>
              </a:lnSpc>
            </a:pP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4. </a:t>
            </a:r>
            <a:r>
              <a:rPr b="1" sz="2600">
                <a:solidFill>
                  <a:srgbClr val="404040"/>
                </a:solidFill>
                <a:latin typeface="メイリオ"/>
                <a:ea typeface="メイリオ"/>
              </a:rPr>
              <a:t>キックオフ</a:t>
            </a:r>
            <a:r>
              <a:rPr b="1" sz="1400">
                <a:solidFill>
                  <a:srgbClr val="808080"/>
                </a:solidFill>
                <a:latin typeface="メイリオ"/>
                <a:ea typeface="メイリオ"/>
              </a:rPr>
              <a:t>　第1回定例ミーティングで支援開始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2_デザインの設定">
  <a:themeElements>
    <a:clrScheme name="PG基本カラースキム">
      <a:dk1>
        <a:srgbClr val="404040"/>
      </a:dk1>
      <a:lt1>
        <a:srgbClr val="FFFFFF"/>
      </a:lt1>
      <a:dk2>
        <a:srgbClr val="404040"/>
      </a:dk2>
      <a:lt2>
        <a:srgbClr val="FFFFFF"/>
      </a:lt2>
      <a:accent1>
        <a:srgbClr val="273771"/>
      </a:accent1>
      <a:accent2>
        <a:srgbClr val="716127"/>
      </a:accent2>
      <a:accent3>
        <a:srgbClr val="712737"/>
      </a:accent3>
      <a:accent4>
        <a:srgbClr val="277161"/>
      </a:accent4>
      <a:accent5>
        <a:srgbClr val="FFFF00"/>
      </a:accent5>
      <a:accent6>
        <a:srgbClr val="FFFFFF"/>
      </a:accent6>
      <a:hlink>
        <a:srgbClr val="5F75C7"/>
      </a:hlink>
      <a:folHlink>
        <a:srgbClr val="273771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404040"/>
        </a:solidFill>
        <a:ln>
          <a:noFill/>
        </a:ln>
      </a:spPr>
      <a:bodyPr rtlCol="0" anchor="ctr"/>
      <a:lstStyle>
        <a:defPPr algn="ctr">
          <a:defRPr kumimoji="1" b="1" dirty="0" err="1" smtClean="0">
            <a:latin typeface="+mn-ea"/>
            <a:ea typeface="+mn-ea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rgbClr val="40404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kumimoji="1" b="1" dirty="0" smtClean="0">
            <a:latin typeface="+mj-ea"/>
            <a:ea typeface="+mj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パワポフォーマットA" id="{8B45D2CB-3800-46BB-B6F6-9AD163628E91}" vid="{60394472-344C-4FAD-AB8E-F2E1771120A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Pa) パワポフォーマット</Template>
  <TotalTime>5218</TotalTime>
  <Words>5200</Words>
  <Application>Microsoft Office PowerPoint</Application>
  <PresentationFormat>A4 210 x 297 mm</PresentationFormat>
  <Paragraphs>931</Paragraphs>
  <Slides>43</Slides>
  <Notes>0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43</vt:i4>
      </vt:variant>
    </vt:vector>
  </HeadingPairs>
  <TitlesOfParts>
    <vt:vector size="51" baseType="lpstr">
      <vt:lpstr>BIZ UD明朝 Medium</vt:lpstr>
      <vt:lpstr>メイリオ</vt:lpstr>
      <vt:lpstr>游ゴシック</vt:lpstr>
      <vt:lpstr>Arial</vt:lpstr>
      <vt:lpstr>Times New Roman</vt:lpstr>
      <vt:lpstr>Wingdings</vt:lpstr>
      <vt:lpstr>2_デザインの設定</vt:lpstr>
      <vt:lpstr>Worksheet</vt:lpstr>
      <vt:lpstr>PowerPoint プレゼンテーション</vt:lpstr>
      <vt:lpstr>目次</vt:lpstr>
      <vt:lpstr>PowerPoint プレゼンテーション</vt:lpstr>
      <vt:lpstr>基本ルール</vt:lpstr>
      <vt:lpstr>基本ルール</vt:lpstr>
      <vt:lpstr>基本ルール</vt:lpstr>
      <vt:lpstr>基本ルール</vt:lpstr>
      <vt:lpstr>基本ルール</vt:lpstr>
      <vt:lpstr>基本ルール</vt:lpstr>
      <vt:lpstr>基本ルール</vt:lpstr>
      <vt:lpstr>基本ルール</vt:lpstr>
      <vt:lpstr>PowerPoint プレゼンテーション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サンプル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ピュアグロース株式会社</dc:creator>
  <cp:lastModifiedBy>ピュアグロース株式会社</cp:lastModifiedBy>
  <cp:revision>166</cp:revision>
  <dcterms:created xsi:type="dcterms:W3CDTF">2025-01-15T11:02:41Z</dcterms:created>
  <dcterms:modified xsi:type="dcterms:W3CDTF">2025-07-07T11:45:43Z</dcterms:modified>
</cp:coreProperties>
</file>