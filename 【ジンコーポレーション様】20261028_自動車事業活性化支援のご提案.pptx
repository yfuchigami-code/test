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906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00000"/>
            <a:ext cx="9906000" cy="600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900000"/>
            <a:ext cx="870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400">
                <a:solidFill>
                  <a:srgbClr val="FFFFFF"/>
                </a:solidFill>
                <a:latin typeface="Meiryo"/>
              </a:rPr>
              <a:t>ジンコーポレーション株式会社 御中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0000" y="1700000"/>
            <a:ext cx="8700000" cy="1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4400">
                <a:solidFill>
                  <a:srgbClr val="FFFFFF"/>
                </a:solidFill>
                <a:latin typeface="Meiryo"/>
              </a:rPr>
              <a:t>自動車事業</a:t>
            </a:r>
            <a:r>
              <a:rPr b="1" sz="4400">
                <a:solidFill>
                  <a:srgbClr val="FFFFFF"/>
                </a:solidFill>
                <a:latin typeface="Meiryo"/>
              </a:rPr>
              <a:t>活性化支援のご提案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0000" y="4600000"/>
            <a:ext cx="8700000" cy="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200">
                <a:solidFill>
                  <a:srgbClr val="FFFFFF"/>
                </a:solidFill>
                <a:latin typeface="Meiryo"/>
              </a:rPr>
              <a:t>整備事業・M&amp;A・自動車販売コンサルティング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5300000"/>
            <a:ext cx="870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2026年10月　ご提案書</a:t>
            </a:r>
          </a:p>
          <a:p>
            <a:pPr algn="l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ご提案の背景と目的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ジンコーポレーションの自動車事業を、</a:t>
            </a:r>
            <a:r>
              <a:rPr b="1" sz="2000">
                <a:solidFill>
                  <a:srgbClr val="404040"/>
                </a:solidFill>
                <a:latin typeface="Meiryo"/>
                <a:highlight>
                  <a:srgbClr val="FFFF00"/>
                </a:highlight>
              </a:rPr>
              <a:t>整備・M&amp;A・販売の3方向</a:t>
            </a:r>
            <a:r>
              <a:rPr b="1" sz="2000">
                <a:solidFill>
                  <a:srgbClr val="404040"/>
                </a:solidFill>
                <a:latin typeface="Meiryo"/>
              </a:rPr>
              <a:t> から活性化する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710000"/>
            <a:ext cx="2000000" cy="9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背景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0000" y="1710000"/>
            <a:ext cx="7346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800">
                <a:solidFill>
                  <a:srgbClr val="404040"/>
                </a:solidFill>
                <a:latin typeface="Meiryo"/>
              </a:rPr>
              <a:t>長野県内の自動車市場で、整備需要の確保と人材確保が経営課題になっている（貴社の状況は初回ヒアリングで確認）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000" y="2610000"/>
            <a:ext cx="2000000" cy="9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目的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0000" y="2610000"/>
            <a:ext cx="7346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800">
                <a:solidFill>
                  <a:srgbClr val="404040"/>
                </a:solidFill>
                <a:latin typeface="Meiryo"/>
              </a:rPr>
              <a:t>自動車事業の収益基盤を強化し、中長期の事業規模拡大につなげる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00" y="3510000"/>
            <a:ext cx="2000000" cy="9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支援の柱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0000" y="3510000"/>
            <a:ext cx="7346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800">
                <a:solidFill>
                  <a:srgbClr val="404040"/>
                </a:solidFill>
                <a:latin typeface="Meiryo"/>
              </a:rPr>
              <a:t>①整備事業　②M&amp;A　③＋α 自動車販売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000" y="565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000" y="580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565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まず整備事業とM&amp;Aを軸に、販売領域まで一体で支援する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0000" y="5260000"/>
            <a:ext cx="9346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200">
                <a:solidFill>
                  <a:srgbClr val="808080"/>
                </a:solidFill>
                <a:latin typeface="Meiryo"/>
              </a:rPr>
              <a:t>※貴社固有の数値・状況は現時点で未確認のため、ヒアリング後に本資料を更新する。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0000" y="3900000"/>
            <a:ext cx="3000000" cy="600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000000"/>
            <a:ext cx="8700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4400">
                <a:solidFill>
                  <a:srgbClr val="FFFFFF"/>
                </a:solidFill>
                <a:latin typeface="Meiryo"/>
              </a:rPr>
              <a:t>自動車事業活性化の</a:t>
            </a:r>
            <a:r>
              <a:rPr b="1" sz="4400">
                <a:solidFill>
                  <a:srgbClr val="FFFFFF"/>
                </a:solidFill>
                <a:latin typeface="Meiryo"/>
              </a:rPr>
              <a:t>3つのご提案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ご提案の全体像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整備を土台に、M&amp;Aで規模を取りにいき、販売で出口を強くする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740000"/>
            <a:ext cx="1100000" cy="1050000"/>
          </a:xfrm>
          <a:prstGeom prst="rect">
            <a:avLst/>
          </a:prstGeom>
          <a:solidFill>
            <a:srgbClr val="0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3200">
                <a:solidFill>
                  <a:srgbClr val="FFFFFF"/>
                </a:solidFill>
                <a:latin typeface="Meiryo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0000" y="1740000"/>
            <a:ext cx="8246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0000" y="1800000"/>
            <a:ext cx="7946000" cy="9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800">
                <a:solidFill>
                  <a:srgbClr val="4472C4"/>
                </a:solidFill>
                <a:latin typeface="Meiryo"/>
              </a:rPr>
              <a:t>整備事業コンサルティング</a:t>
            </a:r>
          </a:p>
          <a:p>
            <a:pPr algn="l">
              <a:lnSpc>
                <a:spcPct val="90000"/>
              </a:lnSpc>
            </a:pPr>
            <a:r>
              <a:rPr b="1" sz="1800">
                <a:solidFill>
                  <a:srgbClr val="404040"/>
                </a:solidFill>
                <a:latin typeface="Meiryo"/>
              </a:rPr>
              <a:t>入庫・単価・稼働・人材の4点から収益力を高める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000" y="2990000"/>
            <a:ext cx="1100000" cy="1050000"/>
          </a:xfrm>
          <a:prstGeom prst="rect">
            <a:avLst/>
          </a:prstGeom>
          <a:solidFill>
            <a:srgbClr val="0564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3200">
                <a:solidFill>
                  <a:srgbClr val="FFFFFF"/>
                </a:solidFill>
                <a:latin typeface="Meiryo"/>
              </a:rP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0000" y="2990000"/>
            <a:ext cx="8246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0000" y="3050000"/>
            <a:ext cx="7946000" cy="9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800">
                <a:solidFill>
                  <a:srgbClr val="4472C4"/>
                </a:solidFill>
                <a:latin typeface="Meiryo"/>
              </a:rPr>
              <a:t>M&amp;Aコンサルティング</a:t>
            </a:r>
          </a:p>
          <a:p>
            <a:pPr algn="l">
              <a:lnSpc>
                <a:spcPct val="90000"/>
              </a:lnSpc>
            </a:pPr>
            <a:r>
              <a:rPr b="1" sz="1800">
                <a:solidFill>
                  <a:srgbClr val="404040"/>
                </a:solidFill>
                <a:latin typeface="Meiryo"/>
              </a:rPr>
              <a:t>整備工場・販売店の買収と事業承継の選択肢を整理し、実行まで伴走する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000" y="4240000"/>
            <a:ext cx="1100000" cy="105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3200">
                <a:solidFill>
                  <a:srgbClr val="FFFFFF"/>
                </a:solidFill>
                <a:latin typeface="Meiryo"/>
              </a:rPr>
              <a:t>＋α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80000" y="4240000"/>
            <a:ext cx="8246000" cy="10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0000" y="4300000"/>
            <a:ext cx="7946000" cy="9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800">
                <a:solidFill>
                  <a:srgbClr val="4472C4"/>
                </a:solidFill>
                <a:latin typeface="Meiryo"/>
              </a:rPr>
              <a:t>自動車販売コンサルティング</a:t>
            </a:r>
          </a:p>
          <a:p>
            <a:pPr algn="l">
              <a:lnSpc>
                <a:spcPct val="90000"/>
              </a:lnSpc>
            </a:pPr>
            <a:r>
              <a:rPr b="1" sz="1800">
                <a:solidFill>
                  <a:srgbClr val="404040"/>
                </a:solidFill>
                <a:latin typeface="Meiryo"/>
              </a:rPr>
              <a:t>販売の仕組みと整備への入庫導線をつなぎ、事業全体の収益を高める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1．整備事業の診断の観点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整備事業の収益は、4つの指標に分解して現状を把握する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700000"/>
            <a:ext cx="2224000" cy="52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入庫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00" y="2220000"/>
            <a:ext cx="2224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000" y="2280000"/>
            <a:ext cx="2104000" cy="22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・入庫台数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・新規・リピート比率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・点検・車検の取り込み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4000" y="1700000"/>
            <a:ext cx="2224000" cy="52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単価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4000" y="2220000"/>
            <a:ext cx="2224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4000" y="2280000"/>
            <a:ext cx="2104000" cy="22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・1台あたり工賃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・部品・用品の売上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・追加整備の提案率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8000" y="1700000"/>
            <a:ext cx="2224000" cy="52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稼働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8000" y="2220000"/>
            <a:ext cx="2224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88000" y="2280000"/>
            <a:ext cx="2104000" cy="22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・リフト・ベイ稼働率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・メカニック1人あたり粗利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・作業の標準時間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2000" y="1700000"/>
            <a:ext cx="2224000" cy="52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人材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2000" y="2220000"/>
            <a:ext cx="2224000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62000" y="2280000"/>
            <a:ext cx="2104000" cy="22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・採用・定着の状況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・技能・資格の構成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・評価と育成の仕組み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0000" y="565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70000" y="580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000" y="565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4指標の現状値を診断し、改善の優先順位を決める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1．整備事業コンサルティングの支援内容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現状診断から改善の実行までを </a:t>
            </a:r>
            <a:r>
              <a:rPr b="1" sz="2000">
                <a:solidFill>
                  <a:srgbClr val="404040"/>
                </a:solidFill>
                <a:latin typeface="Meiryo"/>
                <a:highlight>
                  <a:srgbClr val="FFFF00"/>
                </a:highlight>
              </a:rPr>
              <a:t>月次で伴走</a:t>
            </a:r>
            <a:r>
              <a:rPr b="1" sz="2000">
                <a:solidFill>
                  <a:srgbClr val="404040"/>
                </a:solidFill>
                <a:latin typeface="Meiryo"/>
              </a:rPr>
              <a:t> 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680000"/>
            <a:ext cx="2000000" cy="8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700">
                <a:solidFill>
                  <a:srgbClr val="FFFFFF"/>
                </a:solidFill>
                <a:latin typeface="Meiryo"/>
              </a:rPr>
              <a:t>現状診断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0000" y="1680000"/>
            <a:ext cx="7346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拠点別の入庫・単価・稼働・人材データの収集と課題整理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000" y="2480000"/>
            <a:ext cx="2000000" cy="8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700">
                <a:solidFill>
                  <a:srgbClr val="FFFFFF"/>
                </a:solidFill>
                <a:latin typeface="Meiryo"/>
              </a:rPr>
              <a:t>改善計画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0000" y="2480000"/>
            <a:ext cx="7346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入庫増・単価向上・稼働平準化・採用強化の施策と数値目標の設定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00" y="3280000"/>
            <a:ext cx="2000000" cy="8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700">
                <a:solidFill>
                  <a:srgbClr val="FFFFFF"/>
                </a:solidFill>
                <a:latin typeface="Meiryo"/>
              </a:rPr>
              <a:t>実行支援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0000" y="3280000"/>
            <a:ext cx="7346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月次の会議体運営、進捗管理、現場への定着支援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000" y="4080000"/>
            <a:ext cx="2000000" cy="8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700">
                <a:solidFill>
                  <a:srgbClr val="FFFFFF"/>
                </a:solidFill>
                <a:latin typeface="Meiryo"/>
              </a:rPr>
              <a:t>成果の確認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0000" y="4080000"/>
            <a:ext cx="7346000" cy="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KPIの月次モニタリングと、翌期計画への反映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000" y="560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0000" y="575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560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診断で終わらせず、数値で成果を確認する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2．M&amp;Aコンサルティングの位置づけ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M&amp;Aは規模拡大と事業承継の両面から、目的を先に定めて検討する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680000"/>
            <a:ext cx="4573000" cy="52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買い手として（規模拡大）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00" y="2200000"/>
            <a:ext cx="4573000" cy="2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000" y="2260000"/>
            <a:ext cx="4453000" cy="2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・長野県内の整備工場・販売店の買収候補の探索</a:t>
            </a:r>
          </a:p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・エリア、整備能力、人材を軸とした優先順位づけ</a:t>
            </a:r>
          </a:p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・買収後の統合計画（PMI）の設計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53000" y="1680000"/>
            <a:ext cx="4573000" cy="520000"/>
          </a:xfrm>
          <a:prstGeom prst="rect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売り手として（事業承継）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53000" y="2200000"/>
            <a:ext cx="4573000" cy="26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13000" y="2260000"/>
            <a:ext cx="4453000" cy="25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・事業・拠点の切り出しの要否の検討</a:t>
            </a:r>
          </a:p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・企業価値の把握と譲渡条件の整理</a:t>
            </a:r>
          </a:p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・従業員・取引先への影響を踏まえた進め方の設計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000" y="565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0000" y="580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000" y="565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貴社の目的を確認したうえで、買い手・売り手の方針を決める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2．M&amp;A支援の進め方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方針策定から統合後の定着までを5段階で支援する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720000"/>
            <a:ext cx="16612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方針策定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00" y="2200000"/>
            <a:ext cx="16612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000" y="2240000"/>
            <a:ext cx="1561200" cy="17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M&amp;Aの目的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対象エリア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予算の設定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1981200" y="1840000"/>
            <a:ext cx="180000" cy="240000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01200" y="1720000"/>
            <a:ext cx="16612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候補探索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01200" y="2200000"/>
            <a:ext cx="16612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1200" y="2240000"/>
            <a:ext cx="1561200" cy="17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候補リスト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初期接触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情報収集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3902400" y="1840000"/>
            <a:ext cx="180000" cy="240000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22400" y="1720000"/>
            <a:ext cx="16612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評価・交渉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22400" y="2200000"/>
            <a:ext cx="16612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72400" y="2240000"/>
            <a:ext cx="1561200" cy="17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企業価値評価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条件交渉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基本合意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5823600" y="1840000"/>
            <a:ext cx="180000" cy="240000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43600" y="1720000"/>
            <a:ext cx="16612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実行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43600" y="2200000"/>
            <a:ext cx="16612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93600" y="2240000"/>
            <a:ext cx="1561200" cy="17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デューデリジェンス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最終契約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クロージング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7744800" y="1840000"/>
            <a:ext cx="180000" cy="240000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64800" y="1720000"/>
            <a:ext cx="16612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統合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64800" y="2200000"/>
            <a:ext cx="1661200" cy="18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4800" y="2240000"/>
            <a:ext cx="1561200" cy="17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PMI計画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人材・拠点の統合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効果検証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0000" y="5330000"/>
            <a:ext cx="9346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200">
                <a:solidFill>
                  <a:srgbClr val="808080"/>
                </a:solidFill>
                <a:latin typeface="Meiryo"/>
              </a:rPr>
              <a:t>※M&amp;Aの仲介・法務・税務・財務の各業務は、必要に応じて専門家と連携して進める。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0000" y="565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0000" y="580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000" y="565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初期は方針策定と候補探索から着手し、段階ごとに判断する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＋α　自動車販売コンサルティング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販売と整備を </a:t>
            </a:r>
            <a:r>
              <a:rPr b="1" sz="2000">
                <a:solidFill>
                  <a:srgbClr val="404040"/>
                </a:solidFill>
                <a:latin typeface="Meiryo"/>
                <a:highlight>
                  <a:srgbClr val="FFFF00"/>
                </a:highlight>
              </a:rPr>
              <a:t>1つの顧客接点</a:t>
            </a:r>
            <a:r>
              <a:rPr b="1" sz="2000">
                <a:solidFill>
                  <a:srgbClr val="404040"/>
                </a:solidFill>
                <a:latin typeface="Meiryo"/>
              </a:rPr>
              <a:t> としてつなぐ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700000"/>
            <a:ext cx="3015333" cy="52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販売の仕組み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00" y="2220000"/>
            <a:ext cx="3015333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0000" y="2280000"/>
            <a:ext cx="2895333" cy="22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・商談プロセスの標準化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・在庫・仕入の管理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・KPIの設定と週次管理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333" y="1700000"/>
            <a:ext cx="3015333" cy="52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整備との連携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45333" y="2220000"/>
            <a:ext cx="3015333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5333" y="2280000"/>
            <a:ext cx="2895333" cy="22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・納車後の点検・車検の予約化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・販売客の整備入庫の導線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・顧客台帳の一元化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10666" y="1700000"/>
            <a:ext cx="3015333" cy="52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800">
                <a:solidFill>
                  <a:srgbClr val="FFFFFF"/>
                </a:solidFill>
                <a:latin typeface="Meiryo"/>
              </a:rPr>
              <a:t>販売チーム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10666" y="2220000"/>
            <a:ext cx="3015333" cy="23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0666" y="2280000"/>
            <a:ext cx="2895333" cy="22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・営業の育成と評価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・店長のマネジメント</a:t>
            </a:r>
          </a:p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・採用と定着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000" y="565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70000" y="580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000" y="565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販売客を整備の入庫につなぎ、事業全体の収益を高める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支援スケジュール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初回ヒアリングから6か月間を、第1フェーズとして進める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720000"/>
            <a:ext cx="21415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1か月目</a:t>
            </a:r>
          </a:p>
        </p:txBody>
      </p:sp>
      <p:sp>
        <p:nvSpPr>
          <p:cNvPr id="8" name="Rectangle 7"/>
          <p:cNvSpPr/>
          <p:nvPr/>
        </p:nvSpPr>
        <p:spPr>
          <a:xfrm>
            <a:off x="280000" y="2200000"/>
            <a:ext cx="21415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0000" y="2240000"/>
            <a:ext cx="2041500" cy="18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ヒアリング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現状診断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課題の整理</a:t>
            </a:r>
          </a:p>
        </p:txBody>
      </p:sp>
      <p:sp>
        <p:nvSpPr>
          <p:cNvPr id="10" name="Isosceles Triangle 9"/>
          <p:cNvSpPr/>
          <p:nvPr/>
        </p:nvSpPr>
        <p:spPr>
          <a:xfrm rot="5400000">
            <a:off x="2461500" y="1840000"/>
            <a:ext cx="180000" cy="240000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81500" y="1720000"/>
            <a:ext cx="21415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2か月目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81500" y="2200000"/>
            <a:ext cx="21415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31500" y="2240000"/>
            <a:ext cx="2041500" cy="18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改善計画の策定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M&amp;A方針の協議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4863000" y="1840000"/>
            <a:ext cx="180000" cy="240000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83000" y="1720000"/>
            <a:ext cx="21415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3〜4か月目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3000" y="2200000"/>
            <a:ext cx="21415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3000" y="2240000"/>
            <a:ext cx="2041500" cy="18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整備の改善施策の実行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M&amp;A候補の探索</a:t>
            </a:r>
          </a:p>
        </p:txBody>
      </p:sp>
      <p:sp>
        <p:nvSpPr>
          <p:cNvPr id="18" name="Isosceles Triangle 17"/>
          <p:cNvSpPr/>
          <p:nvPr/>
        </p:nvSpPr>
        <p:spPr>
          <a:xfrm rot="5400000">
            <a:off x="7264500" y="1840000"/>
            <a:ext cx="180000" cy="240000"/>
          </a:xfrm>
          <a:prstGeom prst="triangle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84500" y="1720000"/>
            <a:ext cx="2141500" cy="4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5〜6か月目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84500" y="2200000"/>
            <a:ext cx="2141500" cy="1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500" y="2240000"/>
            <a:ext cx="2041500" cy="18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成果の確認</a:t>
            </a:r>
          </a:p>
          <a:p>
            <a:pPr algn="l">
              <a:lnSpc>
                <a:spcPct val="90000"/>
              </a:lnSpc>
            </a:pPr>
            <a:r>
              <a:rPr b="1" sz="1400">
                <a:solidFill>
                  <a:srgbClr val="404040"/>
                </a:solidFill>
                <a:latin typeface="Meiryo"/>
              </a:rPr>
              <a:t>販売領域の追加検討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000" y="5330000"/>
            <a:ext cx="9346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200">
                <a:solidFill>
                  <a:srgbClr val="808080"/>
                </a:solidFill>
                <a:latin typeface="Meiryo"/>
              </a:rPr>
              <a:t>※期間・内容は、ヒアリング結果と貴社のご意向に応じて調整する。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0000" y="565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70000" y="580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000" y="565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6か月後に成果を確認し、第2フェーズの内容を決める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費用・契約条件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支援領域ごとに、月額顧問型で費用を設定する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680000"/>
            <a:ext cx="3300000" cy="6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支援領域</a:t>
            </a:r>
          </a:p>
        </p:txBody>
      </p:sp>
      <p:sp>
        <p:nvSpPr>
          <p:cNvPr id="8" name="Rectangle 7"/>
          <p:cNvSpPr/>
          <p:nvPr/>
        </p:nvSpPr>
        <p:spPr>
          <a:xfrm>
            <a:off x="3580000" y="1680000"/>
            <a:ext cx="3800000" cy="6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内容</a:t>
            </a:r>
          </a:p>
        </p:txBody>
      </p:sp>
      <p:sp>
        <p:nvSpPr>
          <p:cNvPr id="9" name="Rectangle 8"/>
          <p:cNvSpPr/>
          <p:nvPr/>
        </p:nvSpPr>
        <p:spPr>
          <a:xfrm>
            <a:off x="7380000" y="1680000"/>
            <a:ext cx="2200000" cy="60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費用（税別）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000" y="2280000"/>
            <a:ext cx="3300000" cy="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整備事業コンサルティング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80000" y="2280000"/>
            <a:ext cx="38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現状診断・改善計画・月次伴走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80000" y="2280000"/>
            <a:ext cx="22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別途お見積り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000" y="2980000"/>
            <a:ext cx="3300000" cy="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M&amp;Aコンサルティング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80000" y="2980000"/>
            <a:ext cx="38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方針策定・候補探索・交渉支援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80000" y="2980000"/>
            <a:ext cx="22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別途お見積り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0000" y="3680000"/>
            <a:ext cx="3300000" cy="700000"/>
          </a:xfrm>
          <a:prstGeom prst="rect">
            <a:avLst/>
          </a:prstGeom>
          <a:solidFill>
            <a:srgbClr val="F2F2F2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自動車販売コンサルティング（＋α）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80000" y="3680000"/>
            <a:ext cx="38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販売の仕組み・整備連携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80000" y="3680000"/>
            <a:ext cx="2200000" cy="7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600">
                <a:solidFill>
                  <a:srgbClr val="404040"/>
                </a:solidFill>
                <a:latin typeface="Meiryo"/>
              </a:rPr>
              <a:t>別途お見積り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0000" y="5000000"/>
            <a:ext cx="9346000" cy="3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200">
                <a:solidFill>
                  <a:srgbClr val="808080"/>
                </a:solidFill>
                <a:latin typeface="Meiryo"/>
              </a:rPr>
              <a:t>※費用はヒアリング後、支援範囲と拠点数を確認のうえ正式にご提示する。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0000" y="565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0000" y="580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000" y="565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領域ごとの契約が可能。まず整備事業から開始できる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78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80000" y="60000"/>
            <a:ext cx="7506000" cy="6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800">
                <a:solidFill>
                  <a:srgbClr val="FFFFFF"/>
                </a:solidFill>
                <a:latin typeface="Meiryo"/>
              </a:rPr>
              <a:t>次のステップとご確認事項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98000"/>
            <a:ext cx="9906000" cy="2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00" y="6603000"/>
            <a:ext cx="5000000" cy="25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11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0000" y="900000"/>
            <a:ext cx="9346000" cy="7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04040"/>
                </a:solidFill>
                <a:latin typeface="Meiryo"/>
              </a:rPr>
              <a:t>初回ヒアリングで、4点を確認させていただきたい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280000" y="1680000"/>
            <a:ext cx="2000000" cy="7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700">
                <a:solidFill>
                  <a:srgbClr val="FFFFFF"/>
                </a:solidFill>
                <a:latin typeface="Meiryo"/>
              </a:rPr>
              <a:t>1．事業の現状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0000" y="1680000"/>
            <a:ext cx="73460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拠点数・整備売上・入庫台数・従業員数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280000" y="2440000"/>
            <a:ext cx="2000000" cy="7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700">
                <a:solidFill>
                  <a:srgbClr val="FFFFFF"/>
                </a:solidFill>
                <a:latin typeface="Meiryo"/>
              </a:rPr>
              <a:t>2．課題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0000" y="2440000"/>
            <a:ext cx="73460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整備・販売・人材で、最も優先度が高い課題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000" y="3200000"/>
            <a:ext cx="2000000" cy="7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700">
                <a:solidFill>
                  <a:srgbClr val="FFFFFF"/>
                </a:solidFill>
                <a:latin typeface="Meiryo"/>
              </a:rPr>
              <a:t>3．M&amp;Aの意向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0000" y="3200000"/>
            <a:ext cx="73460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買い手・売り手のどちらを想定するか、時期と予算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0000" y="3960000"/>
            <a:ext cx="2000000" cy="760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700">
                <a:solidFill>
                  <a:srgbClr val="FFFFFF"/>
                </a:solidFill>
                <a:latin typeface="Meiryo"/>
              </a:rPr>
              <a:t>4．ご希望の開始時期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0000" y="3960000"/>
            <a:ext cx="7346000" cy="7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l">
              <a:lnSpc>
                <a:spcPct val="90000"/>
              </a:lnSpc>
            </a:pPr>
            <a:r>
              <a:rPr b="1" sz="1700">
                <a:solidFill>
                  <a:srgbClr val="404040"/>
                </a:solidFill>
                <a:latin typeface="Meiryo"/>
              </a:rPr>
              <a:t>支援開始の時期と、社内の窓口担当者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0000" y="5500000"/>
            <a:ext cx="9346000" cy="6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70000" y="5650000"/>
            <a:ext cx="340000" cy="340000"/>
          </a:xfrm>
          <a:prstGeom prst="ellipse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2000" rIns="72000"/>
          <a:lstStyle/>
          <a:p>
            <a:pPr algn="ctr">
              <a:lnSpc>
                <a:spcPct val="90000"/>
              </a:lnSpc>
            </a:pPr>
            <a:r>
              <a:rPr b="1" sz="1600">
                <a:solidFill>
                  <a:srgbClr val="FFFFFF"/>
                </a:solidFill>
                <a:latin typeface="Meiryo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00" y="5500000"/>
            <a:ext cx="8746000" cy="6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2000">
                <a:solidFill>
                  <a:srgbClr val="4472C4"/>
                </a:solidFill>
                <a:latin typeface="Meiryo"/>
              </a:rPr>
              <a:t>初回ヒアリングの日程調整を、貴社の担当者様とお願いしたい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906000" cy="6858000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0000" y="3600000"/>
            <a:ext cx="3000000" cy="6000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0000" y="2500000"/>
            <a:ext cx="8700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b="1" sz="3600">
                <a:solidFill>
                  <a:srgbClr val="FFFFFF"/>
                </a:solidFill>
                <a:latin typeface="Meiryo"/>
              </a:rPr>
              <a:t>株式会社ピュアグロース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株式会社ピュアグロース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